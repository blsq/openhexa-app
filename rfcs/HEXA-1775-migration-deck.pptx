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A2 → slide 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A1 → slide 16 · A3 → slide 18 · A7 → slide 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A4 → slide 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A6 → slide 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A9 → slide 24 · A5 → slide 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A10 → slide 25 · A8 → slide 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944575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600" b="1">
                <a:solidFill>
                  <a:srgbClr val="13201E"/>
                </a:solidFill>
                <a:latin typeface="Spectral"/>
              </a:rPr>
              <a:t>Workspace tokens that
stop at the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480560"/>
            <a:ext cx="10543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>
                <a:solidFill>
                  <a:srgbClr val="0E6B5E"/>
                </a:solidFill>
                <a:latin typeface="IBM Plex Mono"/>
              </a:rPr>
              <a:t>HEXA-1775</a:t>
            </a:r>
            <a:r>
              <a:rPr sz="1200">
                <a:solidFill>
                  <a:srgbClr val="6B7B77"/>
                </a:solidFill>
                <a:latin typeface="IBM Plex Mono"/>
              </a:rPr>
              <a:t>     MIGRATION PLAN</a:t>
            </a:r>
            <a:r>
              <a:rPr sz="1200">
                <a:solidFill>
                  <a:srgbClr val="6B7B77"/>
                </a:solidFill>
                <a:latin typeface="IBM Plex Mono"/>
              </a:rPr>
              <a:t>     DRAFT — FOR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BAAA6"/>
                </a:solidFill>
                <a:latin typeface="IBM Plex Mono"/>
              </a:rPr>
              <a:t>OPENING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4476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BAAA6"/>
                </a:solidFill>
                <a:latin typeface="IBM Plex Mono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0E6B5E"/>
                </a:solidFill>
                <a:latin typeface="IBM Plex Mono"/>
              </a:rPr>
              <a:t>WHAT WE HAVE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30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i="0" b="1">
                <a:solidFill>
                  <a:srgbClr val="13201E"/>
                </a:solidFill>
                <a:latin typeface="Spectral"/>
              </a:rPr>
              <a:t>A token is issued </a:t>
            </a:r>
            <a:r>
              <a:rPr sz="2700" i="1" b="1">
                <a:solidFill>
                  <a:srgbClr val="13201E"/>
                </a:solidFill>
                <a:latin typeface="Spectral"/>
              </a:rPr>
              <a:t>for</a:t>
            </a:r>
            <a:r>
              <a:rPr sz="2700" i="0" b="1">
                <a:solidFill>
                  <a:srgbClr val="13201E"/>
                </a:solidFill>
                <a:latin typeface="Spectral"/>
              </a:rPr>
              <a:t> a workspace. It isn’t limited </a:t>
            </a:r>
            <a:r>
              <a:rPr sz="2700" i="1" b="1">
                <a:solidFill>
                  <a:srgbClr val="13201E"/>
                </a:solidFill>
                <a:latin typeface="Spectral"/>
              </a:rPr>
              <a:t>to</a:t>
            </a:r>
            <a:r>
              <a:rPr sz="2700" i="0" b="1">
                <a:solidFill>
                  <a:srgbClr val="13201E"/>
                </a:solidFill>
                <a:latin typeface="Spectral"/>
              </a:rPr>
              <a:t> one.</a:t>
            </a:r>
          </a:p>
        </p:txBody>
      </p:sp>
      <p:pic>
        <p:nvPicPr>
          <p:cNvPr id="4" name="Picture 3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685" y="1847088"/>
            <a:ext cx="7751580" cy="3273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230368"/>
            <a:ext cx="9994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i="0" b="0">
                <a:solidFill>
                  <a:srgbClr val="3C4E4B"/>
                </a:solidFill>
                <a:latin typeface="Spectral"/>
              </a:rPr>
              <a:t>One key, every door its owner can open — today’s doors and tomorrow’s.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BAAA6"/>
                </a:solidFill>
                <a:latin typeface="IBM Plex Mono"/>
              </a:rPr>
              <a:t>WHAT WE 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76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BAAA6"/>
                </a:solidFill>
                <a:latin typeface="IBM Plex Mono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0E6B5E"/>
                </a:solidFill>
                <a:latin typeface="IBM Plex Mono"/>
              </a:rPr>
              <a:t>WHAT WE HAVE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30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i="0" b="1">
                <a:solidFill>
                  <a:srgbClr val="13201E"/>
                </a:solidFill>
                <a:latin typeface="Spectral"/>
              </a:rPr>
              <a:t>Three things we cannot do today</a:t>
            </a:r>
          </a:p>
        </p:txBody>
      </p:sp>
      <p:pic>
        <p:nvPicPr>
          <p:cNvPr id="4" name="Picture 3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660" y="1847088"/>
            <a:ext cx="8921630" cy="3273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230368"/>
            <a:ext cx="9994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i="0" b="0">
                <a:solidFill>
                  <a:srgbClr val="3C4E4B"/>
                </a:solidFill>
                <a:latin typeface="Spectral"/>
              </a:rPr>
              <a:t>Also true today: a token bypasses 2FA, and its secret is stored in the database in plaintext.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BAAA6"/>
                </a:solidFill>
                <a:latin typeface="IBM Plex Mono"/>
              </a:rPr>
              <a:t>WHAT WE 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76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BAAA6"/>
                </a:solidFill>
                <a:latin typeface="IBM Plex Mono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0E6B5E"/>
                </a:solidFill>
                <a:latin typeface="IBM Plex Mono"/>
              </a:rPr>
              <a:t>WHAT SCOPE MEANS ·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30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i="0" b="1">
                <a:solidFill>
                  <a:srgbClr val="13201E"/>
                </a:solidFill>
                <a:latin typeface="Spectral"/>
              </a:rPr>
              <a:t>Scope is a ring drawn around one workspace</a:t>
            </a:r>
          </a:p>
        </p:txBody>
      </p:sp>
      <p:pic>
        <p:nvPicPr>
          <p:cNvPr id="4" name="Picture 3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064" y="1847088"/>
            <a:ext cx="7558823" cy="3273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230368"/>
            <a:ext cx="9994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i="0" b="0">
                <a:solidFill>
                  <a:srgbClr val="3C4E4B"/>
                </a:solidFill>
                <a:latin typeface="Spectral"/>
              </a:rPr>
              <a:t>A token acts as its owner, but only inside the ring. Superusers included — no wider than anyone else.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BAAA6"/>
                </a:solidFill>
                <a:latin typeface="IBM Plex Mono"/>
              </a:rPr>
              <a:t>WHAT SCOPE MEANS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76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BAAA6"/>
                </a:solidFill>
                <a:latin typeface="IBM Plex Mono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0E6B5E"/>
                </a:solidFill>
                <a:latin typeface="IBM Plex Mono"/>
              </a:rPr>
              <a:t>WHAT SCOPE MEANS ·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30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i="0" b="1">
                <a:solidFill>
                  <a:srgbClr val="13201E"/>
                </a:solidFill>
                <a:latin typeface="Spectral"/>
              </a:rPr>
              <a:t>The ring follows </a:t>
            </a:r>
            <a:r>
              <a:rPr sz="3000" i="1" b="1">
                <a:solidFill>
                  <a:srgbClr val="13201E"/>
                </a:solidFill>
                <a:latin typeface="Spectral"/>
              </a:rPr>
              <a:t>sharing</a:t>
            </a:r>
            <a:r>
              <a:rPr sz="3000" i="0" b="1">
                <a:solidFill>
                  <a:srgbClr val="13201E"/>
                </a:solidFill>
                <a:latin typeface="Spectral"/>
              </a:rPr>
              <a:t>, not ownership</a:t>
            </a:r>
          </a:p>
        </p:txBody>
      </p:sp>
      <p:pic>
        <p:nvPicPr>
          <p:cNvPr id="4" name="Picture 3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685" y="1847088"/>
            <a:ext cx="7751580" cy="3273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230368"/>
            <a:ext cx="9994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i="0" b="0">
                <a:solidFill>
                  <a:srgbClr val="3C4E4B"/>
                </a:solidFill>
                <a:latin typeface="Spectral"/>
              </a:rPr>
              <a:t>A token for B reaches what </a:t>
            </a:r>
            <a:r>
              <a:rPr sz="1500" i="1" b="0">
                <a:solidFill>
                  <a:srgbClr val="3C4E4B"/>
                </a:solidFill>
                <a:latin typeface="Spectral"/>
              </a:rPr>
              <a:t>B</a:t>
            </a:r>
            <a:r>
              <a:rPr sz="1500" i="0" b="0">
                <a:solidFill>
                  <a:srgbClr val="3C4E4B"/>
                </a:solidFill>
                <a:latin typeface="Spectral"/>
              </a:rPr>
              <a:t> reaches. Get this wrong and we break sharing, not just tokens.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BAAA6"/>
                </a:solidFill>
                <a:latin typeface="IBM Plex Mono"/>
              </a:rPr>
              <a:t>WHAT SCOPE MEANS   ·   SEE A2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76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BAAA6"/>
                </a:solidFill>
                <a:latin typeface="IBM Plex Mono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0E6B5E"/>
                </a:solidFill>
                <a:latin typeface="IBM Plex Mono"/>
              </a:rPr>
              <a:t>HOW IT WORKS ·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30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i="0" b="1">
                <a:solidFill>
                  <a:srgbClr val="13201E"/>
                </a:solidFill>
                <a:latin typeface="Spectral"/>
              </a:rPr>
              <a:t>Scoping is one line away</a:t>
            </a:r>
          </a:p>
        </p:txBody>
      </p:sp>
      <p:pic>
        <p:nvPicPr>
          <p:cNvPr id="4" name="Picture 3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320" y="1847088"/>
            <a:ext cx="8410311" cy="3273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230368"/>
            <a:ext cx="9994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i="0" b="0">
                <a:solidFill>
                  <a:srgbClr val="3C4E4B"/>
                </a:solidFill>
                <a:latin typeface="Spectral"/>
              </a:rPr>
              <a:t>Every queryset already asks the principal. We hand it a narrower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BAAA6"/>
                </a:solidFill>
                <a:latin typeface="IBM Plex Mono"/>
              </a:rPr>
              <a:t>HOW IT WORKS   ·   SEE A1, A3, A7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76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BAAA6"/>
                </a:solidFill>
                <a:latin typeface="IBM Plex Mono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0E6B5E"/>
                </a:solidFill>
                <a:latin typeface="IBM Plex Mono"/>
              </a:rPr>
              <a:t>HOW IT WORKS ·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30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i="0" b="1">
                <a:solidFill>
                  <a:srgbClr val="13201E"/>
                </a:solidFill>
                <a:latin typeface="Spectral"/>
              </a:rPr>
              <a:t>A token becomes a thing you can see</a:t>
            </a:r>
          </a:p>
        </p:txBody>
      </p:sp>
      <p:pic>
        <p:nvPicPr>
          <p:cNvPr id="4" name="Picture 3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853" y="1847088"/>
            <a:ext cx="8667245" cy="3273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230368"/>
            <a:ext cx="9994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i="0" b="0">
                <a:solidFill>
                  <a:srgbClr val="3C4E4B"/>
                </a:solidFill>
                <a:latin typeface="Spectral"/>
              </a:rPr>
              <a:t>Named, per-workspace, hashed, individually revocable — and it tells you if anything still uses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BAAA6"/>
                </a:solidFill>
                <a:latin typeface="IBM Plex Mono"/>
              </a:rPr>
              <a:t>HOW IT WORKS   ·   SEE A4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76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BAAA6"/>
                </a:solidFill>
                <a:latin typeface="IBM Plex Mono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0E6B5E"/>
                </a:solidFill>
                <a:latin typeface="IBM Plex Mono"/>
              </a:rPr>
              <a:t>HOW IT WORKS ·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30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i="0" b="1">
                <a:solidFill>
                  <a:srgbClr val="13201E"/>
                </a:solidFill>
                <a:latin typeface="Spectral"/>
              </a:rPr>
              <a:t>And a switch with three positions</a:t>
            </a:r>
          </a:p>
        </p:txBody>
      </p:sp>
      <p:pic>
        <p:nvPicPr>
          <p:cNvPr id="4" name="Picture 3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660" y="1847088"/>
            <a:ext cx="8921630" cy="3273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230368"/>
            <a:ext cx="9994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i="0" b="0">
                <a:solidFill>
                  <a:srgbClr val="3C4E4B"/>
                </a:solidFill>
                <a:latin typeface="Spectral"/>
              </a:rPr>
              <a:t>The plan that follows is mostly this dial, turned one notch at a time — and reversible at every notch.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BAAA6"/>
                </a:solidFill>
                <a:latin typeface="IBM Plex Mono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76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BAAA6"/>
                </a:solidFill>
                <a:latin typeface="IBM Plex Mono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0E6B5E"/>
                </a:solidFill>
                <a:latin typeface="IBM Plex Mono"/>
              </a:rPr>
              <a:t>THE MIGRATION ·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30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i="0" b="1">
                <a:solidFill>
                  <a:srgbClr val="13201E"/>
                </a:solidFill>
                <a:latin typeface="Spectral"/>
              </a:rPr>
              <a:t>Six notches, and nobody finds out from a broken pipeline</a:t>
            </a:r>
          </a:p>
        </p:txBody>
      </p:sp>
      <p:pic>
        <p:nvPicPr>
          <p:cNvPr id="4" name="Picture 3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29" y="1847088"/>
            <a:ext cx="9211293" cy="3273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230368"/>
            <a:ext cx="9994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i="0" b="0">
                <a:solidFill>
                  <a:srgbClr val="3C4E4B"/>
                </a:solidFill>
                <a:latin typeface="Spectral"/>
              </a:rPr>
              <a:t>Durations are relative on purpose: phase 0’s data is what sets the cutoff 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BAAA6"/>
                </a:solidFill>
                <a:latin typeface="IBM Plex Mono"/>
              </a:rPr>
              <a:t>THE MIGRATION   ·   SEE A6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76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BAAA6"/>
                </a:solidFill>
                <a:latin typeface="IBM Plex Mono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0E6B5E"/>
                </a:solidFill>
                <a:latin typeface="IBM Plex Mono"/>
              </a:rPr>
              <a:t>PHASE 0 – 1 ·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30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i="0" b="1">
                <a:solidFill>
                  <a:srgbClr val="13201E"/>
                </a:solidFill>
                <a:latin typeface="Spectral"/>
              </a:rPr>
              <a:t>First we watch. Nothing changes for anyone.</a:t>
            </a:r>
          </a:p>
        </p:txBody>
      </p:sp>
      <p:pic>
        <p:nvPicPr>
          <p:cNvPr id="4" name="Picture 3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853" y="1847088"/>
            <a:ext cx="8667245" cy="3273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230368"/>
            <a:ext cx="9994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i="0" b="0">
                <a:solidFill>
                  <a:srgbClr val="3C4E4B"/>
                </a:solidFill>
                <a:latin typeface="Spectral"/>
              </a:rPr>
              <a:t>Two weeks of this replaces every guess about how much breakage there 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BAAA6"/>
                </a:solidFill>
                <a:latin typeface="IBM Plex Mono"/>
              </a:rPr>
              <a:t>THE MIGRATION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76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BAAA6"/>
                </a:solidFill>
                <a:latin typeface="IBM Plex Mono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0E6B5E"/>
                </a:solidFill>
                <a:latin typeface="IBM Plex Mono"/>
              </a:rPr>
              <a:t>PHASE 2 – 3 ·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30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i="0" b="1">
                <a:solidFill>
                  <a:srgbClr val="13201E"/>
                </a:solidFill>
                <a:latin typeface="Spectral"/>
              </a:rPr>
              <a:t>Then we offer — and only later make it the default</a:t>
            </a:r>
          </a:p>
        </p:txBody>
      </p:sp>
      <p:pic>
        <p:nvPicPr>
          <p:cNvPr id="4" name="Picture 3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660" y="1847088"/>
            <a:ext cx="8921630" cy="3273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230368"/>
            <a:ext cx="9994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i="0" b="0">
                <a:solidFill>
                  <a:srgbClr val="3C4E4B"/>
                </a:solidFill>
                <a:latin typeface="Spectral"/>
              </a:rPr>
              <a:t>Creating a scoped token never invalidates the old one. Migration happens one integration at a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BAAA6"/>
                </a:solidFill>
                <a:latin typeface="IBM Plex Mono"/>
              </a:rPr>
              <a:t>THE MIGRATION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76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BAAA6"/>
                </a:solidFill>
                <a:latin typeface="IBM Plex Mono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0E6B5E"/>
                </a:solidFill>
                <a:latin typeface="IBM Plex Mono"/>
              </a:rPr>
              <a:t>PHASE 4 ·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30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i="0" b="1">
                <a:solidFill>
                  <a:srgbClr val="13201E"/>
                </a:solidFill>
                <a:latin typeface="Spectral"/>
              </a:rPr>
              <a:t>Then we warn, twice, with the lights on</a:t>
            </a:r>
          </a:p>
        </p:txBody>
      </p:sp>
      <p:pic>
        <p:nvPicPr>
          <p:cNvPr id="4" name="Picture 3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367" y="1847088"/>
            <a:ext cx="9828216" cy="3273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230368"/>
            <a:ext cx="9994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i="0" b="0">
                <a:solidFill>
                  <a:srgbClr val="3C4E4B"/>
                </a:solidFill>
                <a:latin typeface="Spectral"/>
              </a:rPr>
              <a:t>Windows are picked against the real pipeline schedule — not against our timezone.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BAAA6"/>
                </a:solidFill>
                <a:latin typeface="IBM Plex Mono"/>
              </a:rPr>
              <a:t>THE MIGRATION   ·   SEE A9, A5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76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BAAA6"/>
                </a:solidFill>
                <a:latin typeface="IBM Plex Mono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0E6B5E"/>
                </a:solidFill>
                <a:latin typeface="IBM Plex Mono"/>
              </a:rPr>
              <a:t>PHASE 5 ·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30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i="0" b="1">
                <a:solidFill>
                  <a:srgbClr val="13201E"/>
                </a:solidFill>
                <a:latin typeface="Spectral"/>
              </a:rPr>
              <a:t>At cutoff, old tokens get </a:t>
            </a:r>
            <a:r>
              <a:rPr sz="3000" i="1" b="1">
                <a:solidFill>
                  <a:srgbClr val="13201E"/>
                </a:solidFill>
                <a:latin typeface="Spectral"/>
              </a:rPr>
              <a:t>scoped</a:t>
            </a:r>
            <a:r>
              <a:rPr sz="3000" i="0" b="1">
                <a:solidFill>
                  <a:srgbClr val="13201E"/>
                </a:solidFill>
                <a:latin typeface="Spectral"/>
              </a:rPr>
              <a:t> — not revoked</a:t>
            </a:r>
          </a:p>
        </p:txBody>
      </p:sp>
      <p:pic>
        <p:nvPicPr>
          <p:cNvPr id="4" name="Picture 3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853" y="1847088"/>
            <a:ext cx="8667245" cy="3273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230368"/>
            <a:ext cx="9994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i="0" b="0">
                <a:solidFill>
                  <a:srgbClr val="3C4E4B"/>
                </a:solidFill>
                <a:latin typeface="Spectral"/>
              </a:rPr>
              <a:t>Verified against the SDK, not assumed. Plus a one-shot grace extension per org, with a hard expiry.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BAAA6"/>
                </a:solidFill>
                <a:latin typeface="IBM Plex Mono"/>
              </a:rPr>
              <a:t>THE MIGRATION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76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BAAA6"/>
                </a:solidFill>
                <a:latin typeface="IBM Plex Mono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0E6B5E"/>
                </a:solidFill>
                <a:latin typeface="IBM Plex Mono"/>
              </a:rPr>
              <a:t>THE USER’S SIDE ·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30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i="0" b="1">
                <a:solidFill>
                  <a:srgbClr val="13201E"/>
                </a:solidFill>
                <a:latin typeface="Spectral"/>
              </a:rPr>
              <a:t>Seven ways to find out. We want the top of the list.</a:t>
            </a:r>
          </a:p>
        </p:txBody>
      </p:sp>
      <p:pic>
        <p:nvPicPr>
          <p:cNvPr id="4" name="Picture 3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853" y="1847088"/>
            <a:ext cx="8667245" cy="3273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230368"/>
            <a:ext cx="9994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i="0" b="0">
                <a:solidFill>
                  <a:srgbClr val="3C4E4B"/>
                </a:solidFill>
                <a:latin typeface="Spectral"/>
              </a:rPr>
              <a:t>Every rung above the last one is cheaper than the support ticket it prevents.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BAAA6"/>
                </a:solidFill>
                <a:latin typeface="IBM Plex Mono"/>
              </a:rPr>
              <a:t>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76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BAAA6"/>
                </a:solidFill>
                <a:latin typeface="IBM Plex Mono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0E6B5E"/>
                </a:solidFill>
                <a:latin typeface="IBM Plex Mono"/>
              </a:rPr>
              <a:t>CLOSING ·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30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i="0" b="1">
                <a:solidFill>
                  <a:srgbClr val="13201E"/>
                </a:solidFill>
                <a:latin typeface="Spectral"/>
              </a:rPr>
              <a:t>What we need to decide</a:t>
            </a:r>
          </a:p>
        </p:txBody>
      </p:sp>
      <p:pic>
        <p:nvPicPr>
          <p:cNvPr id="4" name="Picture 3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29" y="1847088"/>
            <a:ext cx="9211293" cy="3273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230368"/>
            <a:ext cx="9994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i="0" b="0">
                <a:solidFill>
                  <a:srgbClr val="3C4E4B"/>
                </a:solidFill>
                <a:latin typeface="Spectral"/>
              </a:rPr>
              <a:t>Checked against the SDK: already one token per workspace, and nothing enumerates workspaces.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BAAA6"/>
                </a:solidFill>
                <a:latin typeface="IBM Plex Mono"/>
              </a:rPr>
              <a:t>CLOSING   ·   SEE A10, 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76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BAAA6"/>
                </a:solidFill>
                <a:latin typeface="IBM Plex Mono"/>
              </a:rPr>
              <a:t>15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8C5A0E"/>
                </a:solidFill>
                <a:latin typeface="IBM Plex Mono"/>
              </a:rPr>
              <a:t>APPENDIX A1  ·  FROM SLIDE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30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400" i="0" b="1">
                <a:solidFill>
                  <a:srgbClr val="13201E"/>
                </a:solidFill>
                <a:latin typeface="Spectral"/>
              </a:rPr>
              <a:t>Three layers, three different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BAAA6"/>
                </a:solidFill>
                <a:latin typeface="IBM Plex Mono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4476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BAAA6"/>
                </a:solidFill>
                <a:latin typeface="IBM Plex Mono"/>
              </a:rPr>
              <a:t>A1 / A10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10543032" cy="1463040"/>
        </p:xfrm>
        <a:graphic>
          <a:graphicData uri="http://schemas.openxmlformats.org/drawingml/2006/table">
            <a:tbl>
              <a:tblPr firstRow="0" bandRow="1">
                <a:tableStyleId>{5940675A-B579-460E-94D1-54222C63F5DA}</a:tableStyleId>
              </a:tblPr>
              <a:tblGrid>
                <a:gridCol w="1371600"/>
                <a:gridCol w="2194560"/>
                <a:gridCol w="6976872"/>
              </a:tblGrid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7B77"/>
                          </a:solidFill>
                          <a:latin typeface="IBM Plex Mono"/>
                        </a:rPr>
                        <a:t>LAYER</a:t>
                      </a:r>
                    </a:p>
                  </a:txBody>
                  <a:tcPr marL="82296" marR="82296" marT="45720" marB="45720">
                    <a:solidFill>
                      <a:srgbClr val="ED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7B77"/>
                          </a:solidFill>
                          <a:latin typeface="IBM Plex Mono"/>
                        </a:rPr>
                        <a:t>QUESTION</a:t>
                      </a:r>
                    </a:p>
                  </a:txBody>
                  <a:tcPr marL="82296" marR="82296" marT="45720" marB="45720">
                    <a:solidFill>
                      <a:srgbClr val="ED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7B77"/>
                          </a:solidFill>
                          <a:latin typeface="IBM Plex Mono"/>
                        </a:rPr>
                        <a:t>MECHANISM</a:t>
                      </a:r>
                    </a:p>
                  </a:txBody>
                  <a:tcPr marL="82296" marR="82296" marT="45720" marB="45720">
                    <a:solidFill>
                      <a:srgbClr val="EDF1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50" i="0" b="0">
                          <a:solidFill>
                            <a:srgbClr val="13201E"/>
                          </a:solidFill>
                          <a:latin typeface="IBM Plex Sans"/>
                        </a:rPr>
                        <a:t>visibility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50" i="0" b="0">
                          <a:solidFill>
                            <a:srgbClr val="3C4E4B"/>
                          </a:solidFill>
                          <a:latin typeface="IBM Plex Sans"/>
                        </a:rPr>
                        <a:t>What rows exist for me?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24" i="0" b="0">
                          <a:solidFill>
                            <a:srgbClr val="0E6B5E"/>
                          </a:solidFill>
                          <a:latin typeface="IBM Plex Mono"/>
                        </a:rPr>
                        <a:t>WorkspaceQuerySet._scoped()</a:t>
                      </a:r>
                      <a:r>
                        <a:rPr sz="1050" i="0" b="0">
                          <a:solidFill>
                            <a:srgbClr val="3C4E4B"/>
                          </a:solidFill>
                          <a:latin typeface="IBM Plex Sans"/>
                        </a:rPr>
                        <a:t>, applied after every branch — so it also clamps the </a:t>
                      </a:r>
                      <a:r>
                        <a:rPr sz="924" i="0" b="0">
                          <a:solidFill>
                            <a:srgbClr val="0E6B5E"/>
                          </a:solidFill>
                          <a:latin typeface="IBM Plex Mono"/>
                        </a:rPr>
                        <a:t>self.all()</a:t>
                      </a:r>
                      <a:r>
                        <a:rPr sz="1050" i="0" b="0">
                          <a:solidFill>
                            <a:srgbClr val="3C4E4B"/>
                          </a:solidFill>
                          <a:latin typeface="IBM Plex Sans"/>
                        </a:rPr>
                        <a:t> superuser shortcuts. Cascades to every model whose </a:t>
                      </a:r>
                      <a:r>
                        <a:rPr sz="924" i="0" b="0">
                          <a:solidFill>
                            <a:srgbClr val="0E6B5E"/>
                          </a:solidFill>
                          <a:latin typeface="IBM Plex Mono"/>
                        </a:rPr>
                        <a:t>filter_for_user</a:t>
                      </a:r>
                      <a:r>
                        <a:rPr sz="1050" i="0" b="0">
                          <a:solidFill>
                            <a:srgbClr val="3C4E4B"/>
                          </a:solidFill>
                          <a:latin typeface="IBM Plex Sans"/>
                        </a:rPr>
                        <a:t> funnels through </a:t>
                      </a:r>
                      <a:r>
                        <a:rPr sz="924" i="0" b="0">
                          <a:solidFill>
                            <a:srgbClr val="0E6B5E"/>
                          </a:solidFill>
                          <a:latin typeface="IBM Plex Mono"/>
                        </a:rPr>
                        <a:t>Workspace.objects.filter_for_user</a:t>
                      </a:r>
                      <a:r>
                        <a:rPr sz="1050" i="0" b="0">
                          <a:solidFill>
                            <a:srgbClr val="3C4E4B"/>
                          </a:solidFill>
                          <a:latin typeface="IBM Plex Sans"/>
                        </a:rPr>
                        <a:t>.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50" i="0" b="0">
                          <a:solidFill>
                            <a:srgbClr val="13201E"/>
                          </a:solidFill>
                          <a:latin typeface="IBM Plex Sans"/>
                        </a:rPr>
                        <a:t>authority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50" i="0" b="0">
                          <a:solidFill>
                            <a:srgbClr val="3C4E4B"/>
                          </a:solidFill>
                          <a:latin typeface="IBM Plex Sans"/>
                        </a:rPr>
                        <a:t>May I act on this row?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24" i="0" b="0">
                          <a:solidFill>
                            <a:srgbClr val="0E6B5E"/>
                          </a:solidFill>
                          <a:latin typeface="IBM Plex Mono"/>
                        </a:rPr>
                        <a:t>Workspace.get_membership()</a:t>
                      </a:r>
                      <a:r>
                        <a:rPr sz="1050" i="0" b="0">
                          <a:solidFill>
                            <a:srgbClr val="3C4E4B"/>
                          </a:solidFill>
                          <a:latin typeface="IBM Plex Sans"/>
                        </a:rPr>
                        <a:t> returns </a:t>
                      </a:r>
                      <a:r>
                        <a:rPr sz="924" i="0" b="0">
                          <a:solidFill>
                            <a:srgbClr val="0E6B5E"/>
                          </a:solidFill>
                          <a:latin typeface="IBM Plex Mono"/>
                        </a:rPr>
                        <a:t>None</a:t>
                      </a:r>
                      <a:r>
                        <a:rPr sz="1050" i="0" b="0">
                          <a:solidFill>
                            <a:srgbClr val="3C4E4B"/>
                          </a:solidFill>
                          <a:latin typeface="IBM Plex Sans"/>
                        </a:rPr>
                        <a:t> off-scope, so every permission built on </a:t>
                      </a:r>
                      <a:r>
                        <a:rPr sz="924" i="0" b="0">
                          <a:solidFill>
                            <a:srgbClr val="0E6B5E"/>
                          </a:solidFill>
                          <a:latin typeface="IBM Plex Mono"/>
                        </a:rPr>
                        <a:t>has_role()</a:t>
                      </a:r>
                      <a:r>
                        <a:rPr sz="1050" i="0" b="0">
                          <a:solidFill>
                            <a:srgbClr val="3C4E4B"/>
                          </a:solidFill>
                          <a:latin typeface="IBM Plex Sans"/>
                        </a:rPr>
                        <a:t> collapses to </a:t>
                      </a:r>
                      <a:r>
                        <a:rPr sz="924" i="0" b="0">
                          <a:solidFill>
                            <a:srgbClr val="0E6B5E"/>
                          </a:solidFill>
                          <a:latin typeface="IBM Plex Mono"/>
                        </a:rPr>
                        <a:t>False</a:t>
                      </a:r>
                      <a:r>
                        <a:rPr sz="1050" i="0" b="0">
                          <a:solidFill>
                            <a:srgbClr val="3C4E4B"/>
                          </a:solidFill>
                          <a:latin typeface="IBM Plex Sans"/>
                        </a:rPr>
                        <a:t> — about thirty checks, one method.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50" i="0" b="0">
                          <a:solidFill>
                            <a:srgbClr val="13201E"/>
                          </a:solidFill>
                          <a:latin typeface="IBM Plex Sans"/>
                        </a:rPr>
                        <a:t>guard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50" i="0" b="0">
                          <a:solidFill>
                            <a:srgbClr val="3C4E4B"/>
                          </a:solidFill>
                          <a:latin typeface="IBM Plex Sans"/>
                        </a:rPr>
                        <a:t>Did something reach an object out of band?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924" i="0" b="0">
                          <a:solidFill>
                            <a:srgbClr val="0E6B5E"/>
                          </a:solidFill>
                          <a:latin typeface="IBM Plex Mono"/>
                        </a:rPr>
                        <a:t>WorkspaceTokenUser.has_perm()</a:t>
                      </a:r>
                      <a:r>
                        <a:rPr sz="1050" i="0" b="0">
                          <a:solidFill>
                            <a:srgbClr val="3C4E4B"/>
                          </a:solidFill>
                          <a:latin typeface="IBM Plex Sans"/>
                        </a:rPr>
                        <a:t> refuses objects outside the scope. Redundant on purpose — it catches the check somebody writes by hand next quarter.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120640"/>
            <a:ext cx="10543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000"/>
              </a:spcAft>
            </a:pPr>
            <a:r>
              <a:rPr sz="1200" i="0" b="0">
                <a:solidFill>
                  <a:srgbClr val="3C4E4B"/>
                </a:solidFill>
                <a:latin typeface="IBM Plex Sans"/>
              </a:rPr>
              <a:t>The </a:t>
            </a:r>
            <a:r>
              <a:rPr sz="1056" i="0" b="0">
                <a:solidFill>
                  <a:srgbClr val="0E6B5E"/>
                </a:solidFill>
                <a:latin typeface="IBM Plex Mono"/>
              </a:rPr>
              <a:t>has_role()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 refactor is what makes this possible: it replaced ~30 hand-rolled membership queries with one method. Without it, scoping would need thirty correct edits and would regress on the thirty-first.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8C5A0E"/>
                </a:solidFill>
                <a:latin typeface="IBM Plex Mono"/>
              </a:rPr>
              <a:t>APPENDIX A2  ·  FROM SLIDE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30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400" i="0" b="1">
                <a:solidFill>
                  <a:srgbClr val="13201E"/>
                </a:solidFill>
                <a:latin typeface="Spectral"/>
              </a:rPr>
              <a:t>Reach, not rows — the full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BAAA6"/>
                </a:solidFill>
                <a:latin typeface="IBM Plex Mono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4476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BAAA6"/>
                </a:solidFill>
                <a:latin typeface="IBM Plex Mono"/>
              </a:rPr>
              <a:t>A2 / A10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0292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3201E"/>
                </a:solidFill>
                <a:latin typeface="IBM Plex Sans"/>
              </a:rPr>
              <a:t>In scope, even when the row belongs elsewhere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i="0" b="0">
                <a:solidFill>
                  <a:srgbClr val="3C4E4B"/>
                </a:solidFill>
                <a:latin typeface="IBM Plex Sans"/>
              </a:rPr>
              <a:t>•   </a:t>
            </a:r>
            <a:r>
              <a:rPr sz="1150" i="0" b="1">
                <a:solidFill>
                  <a:srgbClr val="3C4E4B"/>
                </a:solidFill>
                <a:latin typeface="IBM Plex Sans"/>
              </a:rPr>
              <a:t>Datasets shared organisation-wide.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 </a:t>
            </a:r>
            <a:r>
              <a:rPr sz="1011" i="0" b="0">
                <a:solidFill>
                  <a:srgbClr val="0E6B5E"/>
                </a:solidFill>
                <a:latin typeface="IBM Plex Mono"/>
              </a:rPr>
              <a:t>filter_for_user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 admits </a:t>
            </a:r>
            <a:r>
              <a:rPr sz="1011" i="0" b="0">
                <a:solidFill>
                  <a:srgbClr val="0E6B5E"/>
                </a:solidFill>
                <a:latin typeface="IBM Plex Mono"/>
              </a:rPr>
              <a:t>shared_with_organization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 datasets from any workspace in an org you belong to.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i="0" b="0">
                <a:solidFill>
                  <a:srgbClr val="3C4E4B"/>
                </a:solidFill>
                <a:latin typeface="IBM Plex Sans"/>
              </a:rPr>
              <a:t>•   </a:t>
            </a:r>
            <a:r>
              <a:rPr sz="1150" i="0" b="1">
                <a:solidFill>
                  <a:srgbClr val="3C4E4B"/>
                </a:solidFill>
                <a:latin typeface="IBM Plex Sans"/>
              </a:rPr>
              <a:t>Linked datasets.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 </a:t>
            </a:r>
            <a:r>
              <a:rPr sz="1011" i="0" b="0">
                <a:solidFill>
                  <a:srgbClr val="0E6B5E"/>
                </a:solidFill>
                <a:latin typeface="IBM Plex Mono"/>
              </a:rPr>
              <a:t>DatasetLink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 </a:t>
            </a:r>
            <a:r>
              <a:rPr sz="1150" i="1" b="0">
                <a:solidFill>
                  <a:srgbClr val="3C4E4B"/>
                </a:solidFill>
                <a:latin typeface="IBM Plex Sans"/>
              </a:rPr>
              <a:t>is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 the cross-workspace mechanism — scoping must respect links, not undo them.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i="0" b="0">
                <a:solidFill>
                  <a:srgbClr val="3C4E4B"/>
                </a:solidFill>
                <a:latin typeface="IBM Plex Sans"/>
              </a:rPr>
              <a:t>•   </a:t>
            </a:r>
            <a:r>
              <a:rPr sz="1150" i="0" b="1">
                <a:solidFill>
                  <a:srgbClr val="3C4E4B"/>
                </a:solidFill>
                <a:latin typeface="IBM Plex Sans"/>
              </a:rPr>
              <a:t>The organisation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, as the boundary those shares are evaluated against — but only the one the scoped workspace belongs to.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i="0" b="0">
                <a:solidFill>
                  <a:srgbClr val="3C4E4B"/>
                </a:solidFill>
                <a:latin typeface="IBM Plex Sans"/>
              </a:rPr>
              <a:t>•   </a:t>
            </a:r>
            <a:r>
              <a:rPr sz="1150" i="0" b="1">
                <a:solidFill>
                  <a:srgbClr val="3C4E4B"/>
                </a:solidFill>
                <a:latin typeface="IBM Plex Sans"/>
              </a:rPr>
              <a:t>Pipeline templates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 from other workspaces, as far as a member of the scoped workspace already sees them.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i="0" b="0">
                <a:solidFill>
                  <a:srgbClr val="3C4E4B"/>
                </a:solidFill>
                <a:latin typeface="IBM Plex Sans"/>
              </a:rPr>
              <a:t>•   </a:t>
            </a:r>
            <a:r>
              <a:rPr sz="1150" i="0" b="1">
                <a:solidFill>
                  <a:srgbClr val="3C4E4B"/>
                </a:solidFill>
                <a:latin typeface="IBM Plex Sans"/>
              </a:rPr>
              <a:t>The SDK has a caller for this: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 </a:t>
            </a:r>
            <a:r>
              <a:rPr sz="1011" i="0" b="0">
                <a:solidFill>
                  <a:srgbClr val="0E6B5E"/>
                </a:solidFill>
                <a:latin typeface="IBM Plex Mono"/>
              </a:rPr>
              <a:t>get_dataset(…, source_workspace_slug=…)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 resolves </a:t>
            </a:r>
            <a:r>
              <a:rPr sz="1011" i="0" b="0">
                <a:solidFill>
                  <a:srgbClr val="0E6B5E"/>
                </a:solidFill>
                <a:latin typeface="IBM Plex Mono"/>
              </a:rPr>
              <a:t>datasetLinkBySlug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 against the </a:t>
            </a:r>
            <a:r>
              <a:rPr sz="1150" i="1" b="0">
                <a:solidFill>
                  <a:srgbClr val="3C4E4B"/>
                </a:solidFill>
                <a:latin typeface="IBM Plex Sans"/>
              </a:rPr>
              <a:t>source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 workspace.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6792" y="1783080"/>
            <a:ext cx="50292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3201E"/>
                </a:solidFill>
                <a:latin typeface="IBM Plex Sans"/>
              </a:rPr>
              <a:t>Out of scope, always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200" i="0" b="0">
                <a:solidFill>
                  <a:srgbClr val="3C4E4B"/>
                </a:solidFill>
                <a:latin typeface="IBM Plex Sans"/>
              </a:rPr>
              <a:t>•   Other workspaces and their memberships, connections, pipelines, webapps, saved queries.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200" i="0" b="0">
                <a:solidFill>
                  <a:srgbClr val="3C4E4B"/>
                </a:solidFill>
                <a:latin typeface="IBM Plex Sans"/>
              </a:rPr>
              <a:t>•   Every account-level mutation — profile, 2FA, org membership, creating workspaces, accepting invitations.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200" i="0" b="0">
                <a:solidFill>
                  <a:srgbClr val="3C4E4B"/>
                </a:solidFill>
                <a:latin typeface="IBM Plex Sans"/>
              </a:rPr>
              <a:t>•   The superuser shortcut. A superuser’s token is no wider than anyone else’s.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6792" y="411480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000"/>
              </a:spcAft>
            </a:pPr>
            <a:r>
              <a:rPr sz="1011" i="0" b="0">
                <a:solidFill>
                  <a:srgbClr val="0E6B5E"/>
                </a:solidFill>
                <a:latin typeface="IBM Plex Mono"/>
              </a:rPr>
              <a:t>Organization.filter_for_user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 narrows through the relation (</a:t>
            </a:r>
            <a:r>
              <a:rPr sz="1011" i="0" b="0">
                <a:solidFill>
                  <a:srgbClr val="0E6B5E"/>
                </a:solidFill>
                <a:latin typeface="IBM Plex Mono"/>
              </a:rPr>
              <a:t>workspaces__id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), not by dereferencing the workspace — so org-shared reach survives while org administration doesn’t.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8C5A0E"/>
                </a:solidFill>
                <a:latin typeface="IBM Plex Mono"/>
              </a:rPr>
              <a:t>APPENDIX A3  ·  FROM SLIDE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30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400" i="0" b="1">
                <a:solidFill>
                  <a:srgbClr val="13201E"/>
                </a:solidFill>
                <a:latin typeface="Spectral"/>
              </a:rPr>
              <a:t>Why the principal, and not request.workspace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BAAA6"/>
                </a:solidFill>
                <a:latin typeface="IBM Plex Mono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4476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BAAA6"/>
                </a:solidFill>
                <a:latin typeface="IBM Plex Mono"/>
              </a:rPr>
              <a:t>A3 / A10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000"/>
              </a:spcAft>
            </a:pPr>
            <a:r>
              <a:rPr sz="1200" i="0" b="0">
                <a:solidFill>
                  <a:srgbClr val="3C4E4B"/>
                </a:solidFill>
                <a:latin typeface="IBM Plex Sans"/>
              </a:rPr>
              <a:t>The authorization API has two shapes, and neither takes a request: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5029200" cy="868680"/>
          </a:xfrm>
          <a:prstGeom prst="rect">
            <a:avLst/>
          </a:prstGeom>
          <a:solidFill>
            <a:srgbClr val="EDF1F0"/>
          </a:solidFill>
          <a:ln w="9525">
            <a:solidFill>
              <a:srgbClr val="DB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109728" bIns="109728"/>
          <a:lstStyle/>
          <a:p>
            <a:pPr algn="ctr">
              <a:lnSpc>
                <a:spcPct val="132000"/>
              </a:lnSpc>
            </a:pPr>
            <a:r>
              <a:rPr sz="1050" b="1">
                <a:solidFill>
                  <a:srgbClr val="13201E"/>
                </a:solidFill>
                <a:latin typeface="IBM Plex Mono"/>
              </a:rPr>
              <a:t>Model.objects.filter_for_user(user)   210 sites</a:t>
            </a:r>
          </a:p>
          <a:p>
            <a:pPr>
              <a:lnSpc>
                <a:spcPct val="132000"/>
              </a:lnSpc>
            </a:pPr>
            <a:r>
              <a:rPr sz="1050" b="1">
                <a:solidFill>
                  <a:srgbClr val="13201E"/>
                </a:solidFill>
                <a:latin typeface="IBM Plex Mono"/>
              </a:rPr>
              <a:t>user.has_perm(perm, obj)              363 sites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5029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000"/>
              </a:spcAft>
            </a:pPr>
            <a:r>
              <a:rPr sz="1056" i="0" b="0">
                <a:solidFill>
                  <a:srgbClr val="0E6B5E"/>
                </a:solidFill>
                <a:latin typeface="IBM Plex Mono"/>
              </a:rPr>
              <a:t>has_perm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 routes through Django’s auth backend, whose signature is fixed at </a:t>
            </a:r>
            <a:r>
              <a:rPr sz="1056" i="0" b="0">
                <a:solidFill>
                  <a:srgbClr val="0E6B5E"/>
                </a:solidFill>
                <a:latin typeface="IBM Plex Mono"/>
              </a:rPr>
              <a:t>(user_obj, perm, obj)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. The request is not in scope there and never will be.</a:t>
            </a:r>
          </a:p>
          <a:p>
            <a:pPr>
              <a:lnSpc>
                <a:spcPct val="132000"/>
              </a:lnSpc>
              <a:spcAft>
                <a:spcPts val="1000"/>
              </a:spcAft>
            </a:pPr>
            <a:r>
              <a:rPr sz="1200" i="0" b="0">
                <a:solidFill>
                  <a:srgbClr val="3C4E4B"/>
                </a:solidFill>
                <a:latin typeface="IBM Plex Sans"/>
              </a:rPr>
              <a:t>So a request-based scope means either threading an argument through ~570 call sites, or ambient thread-local state the model layer reads implicitly.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1783080"/>
            <a:ext cx="50292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000"/>
              </a:spcAft>
            </a:pPr>
            <a:r>
              <a:rPr sz="1200" i="0" b="1">
                <a:solidFill>
                  <a:srgbClr val="3C4E4B"/>
                </a:solidFill>
                <a:latin typeface="IBM Plex Sans"/>
              </a:rPr>
              <a:t>And it wouldn’t cover everything.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 </a:t>
            </a:r>
            <a:r>
              <a:rPr sz="1056" i="0" b="0">
                <a:solidFill>
                  <a:srgbClr val="0E6B5E"/>
                </a:solidFill>
                <a:latin typeface="IBM Plex Mono"/>
              </a:rPr>
              <a:t>filter_for_user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 is also called with no request at all — </a:t>
            </a:r>
            <a:r>
              <a:rPr sz="1056" i="0" b="0">
                <a:solidFill>
                  <a:srgbClr val="0E6B5E"/>
                </a:solidFill>
                <a:latin typeface="IBM Plex Mono"/>
              </a:rPr>
              <a:t>query_runner.py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, </a:t>
            </a:r>
            <a:r>
              <a:rPr sz="1056" i="0" b="0">
                <a:solidFill>
                  <a:srgbClr val="0E6B5E"/>
                </a:solidFill>
                <a:latin typeface="IBM Plex Mono"/>
              </a:rPr>
              <a:t>workspace_copier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, </a:t>
            </a:r>
            <a:r>
              <a:rPr sz="1056" i="0" b="0">
                <a:solidFill>
                  <a:srgbClr val="0E6B5E"/>
                </a:solidFill>
                <a:latin typeface="IBM Plex Mono"/>
              </a:rPr>
              <a:t>core/search.py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, the connector credential modules. A request-based scope is silently </a:t>
            </a:r>
            <a:r>
              <a:rPr sz="1200" i="1" b="0">
                <a:solidFill>
                  <a:srgbClr val="3C4E4B"/>
                </a:solidFill>
                <a:latin typeface="IBM Plex Sans"/>
              </a:rPr>
              <a:t>absent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 there, and absent means unscoped.</a:t>
            </a:r>
          </a:p>
          <a:p>
            <a:pPr>
              <a:lnSpc>
                <a:spcPct val="132000"/>
              </a:lnSpc>
              <a:spcAft>
                <a:spcPts val="1000"/>
              </a:spcAft>
            </a:pPr>
            <a:r>
              <a:rPr sz="1200" i="0" b="1">
                <a:solidFill>
                  <a:srgbClr val="3C4E4B"/>
                </a:solidFill>
                <a:latin typeface="IBM Plex Sans"/>
              </a:rPr>
              <a:t>What we keep </a:t>
            </a:r>
            <a:r>
              <a:rPr sz="1056" i="0" b="1">
                <a:solidFill>
                  <a:srgbClr val="0E6B5E"/>
                </a:solidFill>
                <a:latin typeface="IBM Plex Mono"/>
              </a:rPr>
              <a:t>request.workspace</a:t>
            </a:r>
            <a:r>
              <a:rPr sz="1200" i="0" b="1">
                <a:solidFill>
                  <a:srgbClr val="3C4E4B"/>
                </a:solidFill>
                <a:latin typeface="IBM Plex Sans"/>
              </a:rPr>
              <a:t> for: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 telemetry. It is the natural key for the shadow log and the scope-error metric. It just isn’t the enforcement mechanism.</a:t>
            </a:r>
          </a:p>
          <a:p>
            <a:pPr>
              <a:lnSpc>
                <a:spcPct val="132000"/>
              </a:lnSpc>
              <a:spcAft>
                <a:spcPts val="1000"/>
              </a:spcAft>
            </a:pPr>
            <a:r>
              <a:rPr sz="1200" i="0" b="1">
                <a:solidFill>
                  <a:srgbClr val="3C4E4B"/>
                </a:solidFill>
                <a:latin typeface="IBM Plex Sans"/>
              </a:rPr>
              <a:t>The cost: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 </a:t>
            </a:r>
            <a:r>
              <a:rPr sz="1056" i="0" b="0">
                <a:solidFill>
                  <a:srgbClr val="0E6B5E"/>
                </a:solidFill>
                <a:latin typeface="IBM Plex Mono"/>
              </a:rPr>
              <a:t>request.user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 is no longer plainly a </a:t>
            </a:r>
            <a:r>
              <a:rPr sz="1056" i="0" b="0">
                <a:solidFill>
                  <a:srgbClr val="0E6B5E"/>
                </a:solidFill>
                <a:latin typeface="IBM Plex Mono"/>
              </a:rPr>
              <a:t>User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. Proxy identity shows up in audit logs, and per-user caches need the scope in their key.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8C5A0E"/>
                </a:solidFill>
                <a:latin typeface="IBM Plex Mono"/>
              </a:rPr>
              <a:t>APPENDIX A4  ·  FROM SLIDE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30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400" i="0" b="1">
                <a:solidFill>
                  <a:srgbClr val="13201E"/>
                </a:solidFill>
                <a:latin typeface="Spectral"/>
              </a:rPr>
              <a:t>The token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BAAA6"/>
                </a:solidFill>
                <a:latin typeface="IBM Plex Mono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4476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BAAA6"/>
                </a:solidFill>
                <a:latin typeface="IBM Plex Mono"/>
              </a:rPr>
              <a:t>A4 / A10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5120640" cy="3977639"/>
          </a:xfrm>
          <a:prstGeom prst="rect">
            <a:avLst/>
          </a:prstGeom>
          <a:solidFill>
            <a:srgbClr val="EDF1F0"/>
          </a:solidFill>
          <a:ln w="9525">
            <a:solidFill>
              <a:srgbClr val="DB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109728" bIns="109728"/>
          <a:lstStyle/>
          <a:p>
            <a:pPr algn="ctr">
              <a:lnSpc>
                <a:spcPct val="132000"/>
              </a:lnSpc>
            </a:pPr>
            <a:r>
              <a:rPr sz="1050" b="1">
                <a:solidFill>
                  <a:srgbClr val="13201E"/>
                </a:solidFill>
                <a:latin typeface="IBM Plex Mono"/>
              </a:rPr>
              <a:t>WorkspaceAccessToken</a:t>
            </a:r>
          </a:p>
          <a:p>
            <a:pPr>
              <a:lnSpc>
                <a:spcPct val="132000"/>
              </a:lnSpc>
            </a:pPr>
            <a:r>
              <a:rPr sz="1050" b="0">
                <a:solidFill>
                  <a:srgbClr val="3C4E4B"/>
                </a:solidFill>
                <a:latin typeface="IBM Plex Mono"/>
              </a:rPr>
              <a:t>  workspace      FK → Workspace    the scope, immutable</a:t>
            </a:r>
          </a:p>
          <a:p>
            <a:pPr>
              <a:lnSpc>
                <a:spcPct val="132000"/>
              </a:lnSpc>
            </a:pPr>
            <a:r>
              <a:rPr sz="1050" b="0">
                <a:solidFill>
                  <a:srgbClr val="3C4E4B"/>
                </a:solidFill>
                <a:latin typeface="IBM Plex Mono"/>
              </a:rPr>
              <a:t>  user           FK → User         the identity it acts as</a:t>
            </a:r>
          </a:p>
          <a:p>
            <a:pPr>
              <a:lnSpc>
                <a:spcPct val="132000"/>
              </a:lnSpc>
            </a:pPr>
            <a:r>
              <a:rPr sz="1050" b="0">
                <a:solidFill>
                  <a:srgbClr val="3C4E4B"/>
                </a:solidFill>
                <a:latin typeface="IBM Plex Mono"/>
              </a:rPr>
              <a:t>  name           str               "CI — nightly refresh"</a:t>
            </a:r>
          </a:p>
          <a:p>
            <a:pPr>
              <a:lnSpc>
                <a:spcPct val="132000"/>
              </a:lnSpc>
            </a:pPr>
            <a:r>
              <a:rPr sz="1050" b="0">
                <a:solidFill>
                  <a:srgbClr val="3C4E4B"/>
                </a:solidFill>
                <a:latin typeface="IBM Plex Mono"/>
              </a:rPr>
              <a:t>  prefix         str  indexed      shown in UI, greppable</a:t>
            </a:r>
          </a:p>
          <a:p>
            <a:pPr>
              <a:lnSpc>
                <a:spcPct val="132000"/>
              </a:lnSpc>
            </a:pPr>
            <a:r>
              <a:rPr sz="1050" b="0">
                <a:solidFill>
                  <a:srgbClr val="3C4E4B"/>
                </a:solidFill>
                <a:latin typeface="IBM Plex Mono"/>
              </a:rPr>
              <a:t>  token_hash     str               sha256, shown once</a:t>
            </a:r>
          </a:p>
          <a:p>
            <a:pPr>
              <a:lnSpc>
                <a:spcPct val="132000"/>
              </a:lnSpc>
            </a:pPr>
            <a:r>
              <a:rPr sz="1050" b="0">
                <a:solidFill>
                  <a:srgbClr val="3C4E4B"/>
                </a:solidFill>
                <a:latin typeface="IBM Plex Mono"/>
              </a:rPr>
              <a:t>  scope_version  int               1 legacy · 2 scoped</a:t>
            </a:r>
          </a:p>
          <a:p>
            <a:pPr>
              <a:lnSpc>
                <a:spcPct val="132000"/>
              </a:lnSpc>
            </a:pPr>
            <a:r>
              <a:rPr sz="1050" b="0">
                <a:solidFill>
                  <a:srgbClr val="3C4E4B"/>
                </a:solidFill>
                <a:latin typeface="IBM Plex Mono"/>
              </a:rPr>
              <a:t>  expires_at     dt   null</a:t>
            </a:r>
          </a:p>
          <a:p>
            <a:pPr>
              <a:lnSpc>
                <a:spcPct val="132000"/>
              </a:lnSpc>
            </a:pPr>
            <a:r>
              <a:rPr sz="1050" b="0">
                <a:solidFill>
                  <a:srgbClr val="3C4E4B"/>
                </a:solidFill>
                <a:latin typeface="IBM Plex Mono"/>
              </a:rPr>
              <a:t>  last_used_at   dt   null         throttled write</a:t>
            </a:r>
          </a:p>
          <a:p>
            <a:pPr>
              <a:lnSpc>
                <a:spcPct val="132000"/>
              </a:lnSpc>
            </a:pPr>
            <a:r>
              <a:rPr sz="1050" b="0">
                <a:solidFill>
                  <a:srgbClr val="3C4E4B"/>
                </a:solidFill>
                <a:latin typeface="IBM Plex Mono"/>
              </a:rPr>
              <a:t>  last_used_ip   str  null</a:t>
            </a:r>
          </a:p>
          <a:p>
            <a:pPr>
              <a:lnSpc>
                <a:spcPct val="132000"/>
              </a:lnSpc>
            </a:pPr>
            <a:r>
              <a:rPr sz="1050" b="0">
                <a:solidFill>
                  <a:srgbClr val="3C4E4B"/>
                </a:solidFill>
                <a:latin typeface="IBM Plex Mono"/>
              </a:rPr>
              <a:t>  revoked_at     dt   null</a:t>
            </a:r>
          </a:p>
          <a:p>
            <a:pPr>
              <a:lnSpc>
                <a:spcPct val="132000"/>
              </a:lnSpc>
            </a:pPr>
            <a:r>
              <a:rPr sz="1050" b="0">
                <a:solidFill>
                  <a:srgbClr val="3C4E4B"/>
                </a:solidFill>
                <a:latin typeface="IBM Plex Mono"/>
              </a:rPr>
              <a:t>  revoked_by     FK → User null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8232" y="1783080"/>
            <a:ext cx="49377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000"/>
              </a:spcAft>
            </a:pPr>
            <a:r>
              <a:rPr sz="1200" i="0" b="1">
                <a:solidFill>
                  <a:srgbClr val="3C4E4B"/>
                </a:solidFill>
                <a:latin typeface="IBM Plex Sans"/>
              </a:rPr>
              <a:t>Why not keep </a:t>
            </a:r>
            <a:r>
              <a:rPr sz="1056" i="0" b="1">
                <a:solidFill>
                  <a:srgbClr val="0E6B5E"/>
                </a:solidFill>
                <a:latin typeface="IBM Plex Mono"/>
              </a:rPr>
              <a:t>membership.access_token</a:t>
            </a:r>
            <a:r>
              <a:rPr sz="1200" i="0" b="1">
                <a:solidFill>
                  <a:srgbClr val="3C4E4B"/>
                </a:solidFill>
                <a:latin typeface="IBM Plex Sans"/>
              </a:rPr>
              <a:t>: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 one token per member per workspace, no name, no usage record, and revocation that breaks every copy. It can’t carry the migration, the UI, or the measurement.</a:t>
            </a:r>
          </a:p>
          <a:p>
            <a:pPr>
              <a:lnSpc>
                <a:spcPct val="132000"/>
              </a:lnSpc>
              <a:spcAft>
                <a:spcPts val="1000"/>
              </a:spcAft>
            </a:pPr>
            <a:r>
              <a:rPr sz="1200" i="0" b="1">
                <a:solidFill>
                  <a:srgbClr val="3C4E4B"/>
                </a:solidFill>
                <a:latin typeface="IBM Plex Sans"/>
              </a:rPr>
              <a:t>Hash, don’t store.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 Today the secret is recoverable from the database. Hashing means a DB dump is not a token dump.</a:t>
            </a:r>
          </a:p>
          <a:p>
            <a:pPr>
              <a:lnSpc>
                <a:spcPct val="132000"/>
              </a:lnSpc>
              <a:spcAft>
                <a:spcPts val="1000"/>
              </a:spcAft>
            </a:pPr>
            <a:r>
              <a:rPr sz="1200" i="0" b="1">
                <a:solidFill>
                  <a:srgbClr val="3C4E4B"/>
                </a:solidFill>
                <a:latin typeface="IBM Plex Sans"/>
              </a:rPr>
              <a:t>Prefix the string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 (</a:t>
            </a:r>
            <a:r>
              <a:rPr sz="1056" i="0" b="0">
                <a:solidFill>
                  <a:srgbClr val="0E6B5E"/>
                </a:solidFill>
                <a:latin typeface="IBM Plex Mono"/>
              </a:rPr>
              <a:t>ohx_ws_…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) so secret scanning spots leaks, and so support can identify a token from a log line without ever seeing it.</a:t>
            </a:r>
          </a:p>
          <a:p>
            <a:pPr>
              <a:lnSpc>
                <a:spcPct val="132000"/>
              </a:lnSpc>
              <a:spcAft>
                <a:spcPts val="1000"/>
              </a:spcAft>
            </a:pPr>
            <a:r>
              <a:rPr sz="1056" i="0" b="1">
                <a:solidFill>
                  <a:srgbClr val="0E6B5E"/>
                </a:solidFill>
                <a:latin typeface="IBM Plex Mono"/>
              </a:rPr>
              <a:t>scope_version</a:t>
            </a:r>
            <a:r>
              <a:rPr sz="1200" i="0" b="1">
                <a:solidFill>
                  <a:srgbClr val="3C4E4B"/>
                </a:solidFill>
                <a:latin typeface="IBM Plex Sans"/>
              </a:rPr>
              <a:t> on the record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, not inferred from payload shape, is what makes the rollout measurable and reversible per token.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8C5A0E"/>
                </a:solidFill>
                <a:latin typeface="IBM Plex Mono"/>
              </a:rPr>
              <a:t>APPENDIX A5  ·  FROM SLIDE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30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400" i="0" b="1">
                <a:solidFill>
                  <a:srgbClr val="13201E"/>
                </a:solidFill>
                <a:latin typeface="Spectral"/>
              </a:rPr>
              <a:t>The error is part of the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BAAA6"/>
                </a:solidFill>
                <a:latin typeface="IBM Plex Mono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4476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BAAA6"/>
                </a:solidFill>
                <a:latin typeface="IBM Plex Mono"/>
              </a:rPr>
              <a:t>A5 / A10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0858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000"/>
              </a:spcAft>
            </a:pPr>
            <a:r>
              <a:rPr sz="1250" i="0" b="0">
                <a:solidFill>
                  <a:srgbClr val="3C4E4B"/>
                </a:solidFill>
                <a:latin typeface="IBM Plex Sans"/>
              </a:rPr>
              <a:t>Out of scope today gives </a:t>
            </a:r>
            <a:r>
              <a:rPr sz="1100" i="0" b="0">
                <a:solidFill>
                  <a:srgbClr val="0E6B5E"/>
                </a:solidFill>
                <a:latin typeface="IBM Plex Mono"/>
              </a:rPr>
              <a:t>WORKSPACE_NOT_FOUND</a:t>
            </a:r>
            <a:r>
              <a:rPr sz="1250" i="0" b="0">
                <a:solidFill>
                  <a:srgbClr val="3C4E4B"/>
                </a:solidFill>
                <a:latin typeface="IBM Plex Sans"/>
              </a:rPr>
              <a:t>, an empty list, or a bare </a:t>
            </a:r>
            <a:r>
              <a:rPr sz="1100" i="0" b="0">
                <a:solidFill>
                  <a:srgbClr val="0E6B5E"/>
                </a:solidFill>
                <a:latin typeface="IBM Plex Mono"/>
              </a:rPr>
              <a:t>PERMISSION_DENIED</a:t>
            </a:r>
            <a:r>
              <a:rPr sz="1250" i="0" b="0">
                <a:solidFill>
                  <a:srgbClr val="3C4E4B"/>
                </a:solidFill>
                <a:latin typeface="IBM Plex Sans"/>
              </a:rPr>
              <a:t>. To a user that reads as “the platform lost my workspace” — and becomes a ticket. What we return instead: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697480"/>
            <a:ext cx="8595360" cy="1371600"/>
          </a:xfrm>
          <a:prstGeom prst="rect">
            <a:avLst/>
          </a:prstGeom>
          <a:solidFill>
            <a:srgbClr val="EDF1F0"/>
          </a:solidFill>
          <a:ln w="9525">
            <a:solidFill>
              <a:srgbClr val="DB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109728" bIns="109728"/>
          <a:lstStyle/>
          <a:p>
            <a:pPr algn="ctr">
              <a:lnSpc>
                <a:spcPct val="132000"/>
              </a:lnSpc>
            </a:pPr>
            <a:r>
              <a:rPr sz="1050" b="1">
                <a:solidFill>
                  <a:srgbClr val="13201E"/>
                </a:solidFill>
                <a:latin typeface="IBM Plex Mono"/>
              </a:rPr>
              <a:t>TOKEN_SCOPE_EXCEEDED</a:t>
            </a:r>
          </a:p>
          <a:p>
            <a:pPr>
              <a:lnSpc>
                <a:spcPct val="132000"/>
              </a:lnSpc>
            </a:pPr>
            <a:r>
              <a:rPr sz="1050" b="0">
                <a:solidFill>
                  <a:srgbClr val="3C4E4B"/>
                </a:solidFill>
                <a:latin typeface="IBM Plex Mono"/>
              </a:rPr>
              <a:t>This token is scoped to workspace malaria-2026 and cannot</a:t>
            </a:r>
          </a:p>
          <a:p>
            <a:pPr>
              <a:lnSpc>
                <a:spcPct val="132000"/>
              </a:lnSpc>
            </a:pPr>
            <a:r>
              <a:rPr sz="1050" b="0">
                <a:solidFill>
                  <a:srgbClr val="3C4E4B"/>
                </a:solidFill>
                <a:latin typeface="IBM Plex Mono"/>
              </a:rPr>
              <a:t>access tb-surveillance. Create a token for that workspace</a:t>
            </a:r>
          </a:p>
          <a:p>
            <a:pPr>
              <a:lnSpc>
                <a:spcPct val="132000"/>
              </a:lnSpc>
            </a:pPr>
            <a:r>
              <a:rPr sz="1050" b="0">
                <a:solidFill>
                  <a:srgbClr val="3C4E4B"/>
                </a:solidFill>
                <a:latin typeface="IBM Plex Mono"/>
              </a:rPr>
              <a:t>in Account settings → Tokens.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1008583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000"/>
              </a:spcAft>
            </a:pPr>
            <a:r>
              <a:rPr sz="1200" i="0" b="0">
                <a:solidFill>
                  <a:srgbClr val="3C4E4B"/>
                </a:solidFill>
                <a:latin typeface="IBM Plex Sans"/>
              </a:rPr>
              <a:t>The SDK and CLI surface it verbatim and link the migration page. Every occurrence is logged with the token prefix — which is what lets the org-admin report say “three of your tokens hit scope errors this week”.</a:t>
            </a:r>
          </a:p>
          <a:p>
            <a:pPr>
              <a:lnSpc>
                <a:spcPct val="132000"/>
              </a:lnSpc>
              <a:spcAft>
                <a:spcPts val="1000"/>
              </a:spcAft>
            </a:pPr>
            <a:r>
              <a:rPr sz="1200" i="0" b="1">
                <a:solidFill>
                  <a:srgbClr val="3C4E4B"/>
                </a:solidFill>
                <a:latin typeface="IBM Plex Sans"/>
              </a:rPr>
              <a:t>And it must not be </a:t>
            </a:r>
            <a:r>
              <a:rPr sz="1056" i="0" b="1">
                <a:solidFill>
                  <a:srgbClr val="0E6B5E"/>
                </a:solidFill>
                <a:latin typeface="IBM Plex Mono"/>
              </a:rPr>
              <a:t>UNAUTHENTICATED</a:t>
            </a:r>
            <a:r>
              <a:rPr sz="1200" i="0" b="1">
                <a:solidFill>
                  <a:srgbClr val="3C4E4B"/>
                </a:solidFill>
                <a:latin typeface="IBM Plex Sans"/>
              </a:rPr>
              <a:t>.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 The CLI collapses that code into </a:t>
            </a:r>
            <a:r>
              <a:rPr sz="1056" i="0" b="0">
                <a:solidFill>
                  <a:srgbClr val="0E6B5E"/>
                </a:solidFill>
                <a:latin typeface="IBM Plex Mono"/>
              </a:rPr>
              <a:t>InvalidTokenError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 (</a:t>
            </a:r>
            <a:r>
              <a:rPr sz="1056" i="0" b="0">
                <a:solidFill>
                  <a:srgbClr val="0E6B5E"/>
                </a:solidFill>
                <a:latin typeface="IBM Plex Mono"/>
              </a:rPr>
              <a:t>cli/api.py:213-215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) — the user would be told their token is invalid and would regenerate it. The wrong fix, applied confidently.</a:t>
            </a:r>
          </a:p>
          <a:p>
            <a:pPr>
              <a:lnSpc>
                <a:spcPct val="132000"/>
              </a:lnSpc>
              <a:spcAft>
                <a:spcPts val="1000"/>
              </a:spcAft>
            </a:pPr>
            <a:r>
              <a:rPr sz="1200" i="0" b="1">
                <a:solidFill>
                  <a:srgbClr val="3C4E4B"/>
                </a:solidFill>
                <a:latin typeface="IBM Plex Sans"/>
              </a:rPr>
              <a:t>On disclosure: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 the holder already knows their own workspace list, so we reveal nothing they couldn’t learn by logging in.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8C5A0E"/>
                </a:solidFill>
                <a:latin typeface="IBM Plex Mono"/>
              </a:rPr>
              <a:t>APPENDIX A6  ·  FROM SLIDE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30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400" i="0" b="1">
                <a:solidFill>
                  <a:srgbClr val="13201E"/>
                </a:solidFill>
                <a:latin typeface="Spectral"/>
              </a:rPr>
              <a:t>Risk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BAAA6"/>
                </a:solidFill>
                <a:latin typeface="IBM Plex Mono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4476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BAAA6"/>
                </a:solidFill>
                <a:latin typeface="IBM Plex Mono"/>
              </a:rPr>
              <a:t>A6 / A10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10543032" cy="2926080"/>
        </p:xfrm>
        <a:graphic>
          <a:graphicData uri="http://schemas.openxmlformats.org/drawingml/2006/table">
            <a:tbl>
              <a:tblPr firstRow="0" bandRow="1">
                <a:tableStyleId>{5940675A-B579-460E-94D1-54222C63F5DA}</a:tableStyleId>
              </a:tblPr>
              <a:tblGrid>
                <a:gridCol w="3840480"/>
                <a:gridCol w="1097280"/>
                <a:gridCol w="914400"/>
                <a:gridCol w="4690872"/>
              </a:tblGrid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7B77"/>
                          </a:solidFill>
                          <a:latin typeface="IBM Plex Mono"/>
                        </a:rPr>
                        <a:t>RISK</a:t>
                      </a:r>
                    </a:p>
                  </a:txBody>
                  <a:tcPr marL="82296" marR="82296" marT="45720" marB="45720">
                    <a:solidFill>
                      <a:srgbClr val="ED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7B77"/>
                          </a:solidFill>
                          <a:latin typeface="IBM Plex Mono"/>
                        </a:rPr>
                        <a:t>LIKELIHOOD</a:t>
                      </a:r>
                    </a:p>
                  </a:txBody>
                  <a:tcPr marL="82296" marR="82296" marT="45720" marB="45720">
                    <a:solidFill>
                      <a:srgbClr val="ED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7B77"/>
                          </a:solidFill>
                          <a:latin typeface="IBM Plex Mono"/>
                        </a:rPr>
                        <a:t>IMPACT</a:t>
                      </a:r>
                    </a:p>
                  </a:txBody>
                  <a:tcPr marL="82296" marR="82296" marT="45720" marB="45720">
                    <a:solidFill>
                      <a:srgbClr val="ED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7B77"/>
                          </a:solidFill>
                          <a:latin typeface="IBM Plex Mono"/>
                        </a:rPr>
                        <a:t>MITIGATION · DETECTION</a:t>
                      </a:r>
                    </a:p>
                  </a:txBody>
                  <a:tcPr marL="82296" marR="82296" marT="45720" marB="45720">
                    <a:solidFill>
                      <a:srgbClr val="EDF1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i="0" b="0">
                          <a:solidFill>
                            <a:srgbClr val="13201E"/>
                          </a:solidFill>
                          <a:latin typeface="IBM Plex Sans"/>
                        </a:rPr>
                        <a:t>Org-shared or linked datasets cut off by over-eager scoping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850">
                          <a:solidFill>
                            <a:srgbClr val="A8382A"/>
                          </a:solidFill>
                          <a:latin typeface="IBM Plex Mono"/>
                        </a:rPr>
                        <a:t>HIGH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850">
                          <a:solidFill>
                            <a:srgbClr val="A8382A"/>
                          </a:solidFill>
                          <a:latin typeface="IBM Plex Mono"/>
                        </a:rPr>
                        <a:t>HIGH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i="0" b="0">
                          <a:solidFill>
                            <a:srgbClr val="3C4E4B"/>
                          </a:solidFill>
                          <a:latin typeface="IBM Plex Sans"/>
                        </a:rPr>
                        <a:t>“Reach, not rows” semantics · tests assert presence and absence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i="0" b="0">
                          <a:solidFill>
                            <a:srgbClr val="13201E"/>
                          </a:solidFill>
                          <a:latin typeface="IBM Plex Sans"/>
                        </a:rPr>
                        <a:t>Cross-workspace automation breaks at cutoff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850">
                          <a:solidFill>
                            <a:srgbClr val="8C5A0E"/>
                          </a:solidFill>
                          <a:latin typeface="IBM Plex Mono"/>
                        </a:rPr>
                        <a:t>MEDIUM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850">
                          <a:solidFill>
                            <a:srgbClr val="A8382A"/>
                          </a:solidFill>
                          <a:latin typeface="IBM Plex Mono"/>
                        </a:rPr>
                        <a:t>HIGH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i="0" b="0">
                          <a:solidFill>
                            <a:srgbClr val="3C4E4B"/>
                          </a:solidFill>
                          <a:latin typeface="IBM Plex Sans"/>
                        </a:rPr>
                        <a:t>Phase 0 names who · brownouts · shadow logs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i="0" b="0">
                          <a:solidFill>
                            <a:srgbClr val="13201E"/>
                          </a:solidFill>
                          <a:latin typeface="IBM Plex Sans"/>
                        </a:rPr>
                        <a:t>A permission check bypasses </a:t>
                      </a:r>
                      <a:r>
                        <a:rPr sz="880" i="0" b="0">
                          <a:solidFill>
                            <a:srgbClr val="0E6B5E"/>
                          </a:solidFill>
                          <a:latin typeface="IBM Plex Mono"/>
                        </a:rPr>
                        <a:t>has_role()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850">
                          <a:solidFill>
                            <a:srgbClr val="8C5A0E"/>
                          </a:solidFill>
                          <a:latin typeface="IBM Plex Mono"/>
                        </a:rPr>
                        <a:t>MEDIUM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850">
                          <a:solidFill>
                            <a:srgbClr val="A8382A"/>
                          </a:solidFill>
                          <a:latin typeface="IBM Plex Mono"/>
                        </a:rPr>
                        <a:t>HIGH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i="0" b="0">
                          <a:solidFill>
                            <a:srgbClr val="3C4E4B"/>
                          </a:solidFill>
                          <a:latin typeface="IBM Plex Sans"/>
                        </a:rPr>
                        <a:t>Guard layer catches it · test forbidding role queries outside the choke point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i="0" b="0">
                          <a:solidFill>
                            <a:srgbClr val="13201E"/>
                          </a:solidFill>
                          <a:latin typeface="IBM Plex Sans"/>
                        </a:rPr>
                        <a:t>A new model is added later without scoping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850">
                          <a:solidFill>
                            <a:srgbClr val="A8382A"/>
                          </a:solidFill>
                          <a:latin typeface="IBM Plex Mono"/>
                        </a:rPr>
                        <a:t>OVER TIME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850">
                          <a:solidFill>
                            <a:srgbClr val="8C5A0E"/>
                          </a:solidFill>
                          <a:latin typeface="IBM Plex Mono"/>
                        </a:rPr>
                        <a:t>MEDIUM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880" i="0" b="0">
                          <a:solidFill>
                            <a:srgbClr val="0E6B5E"/>
                          </a:solidFill>
                          <a:latin typeface="IBM Plex Mono"/>
                        </a:rPr>
                        <a:t>SCOPED_MODELS</a:t>
                      </a:r>
                      <a:r>
                        <a:rPr sz="1000" i="0" b="0">
                          <a:solidFill>
                            <a:srgbClr val="3C4E4B"/>
                          </a:solidFill>
                          <a:latin typeface="IBM Plex Sans"/>
                        </a:rPr>
                        <a:t> guard test in CI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i="0" b="0">
                          <a:solidFill>
                            <a:srgbClr val="13201E"/>
                          </a:solidFill>
                          <a:latin typeface="IBM Plex Sans"/>
                        </a:rPr>
                        <a:t>MCP server enumerates workspaces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850">
                          <a:solidFill>
                            <a:srgbClr val="8C5A0E"/>
                          </a:solidFill>
                          <a:latin typeface="IBM Plex Mono"/>
                        </a:rPr>
                        <a:t>MEDIUM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850">
                          <a:solidFill>
                            <a:srgbClr val="8C5A0E"/>
                          </a:solidFill>
                          <a:latin typeface="IBM Plex Mono"/>
                        </a:rPr>
                        <a:t>MEDIUM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i="0" b="0">
                          <a:solidFill>
                            <a:srgbClr val="3C4E4B"/>
                          </a:solidFill>
                          <a:latin typeface="IBM Plex Sans"/>
                        </a:rPr>
                        <a:t>Audit its operations before phase 3 · shadow logs by user agent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i="0" b="0">
                          <a:solidFill>
                            <a:srgbClr val="13201E"/>
                          </a:solidFill>
                          <a:latin typeface="IBM Plex Sans"/>
                        </a:rPr>
                        <a:t>Ops scripts using superuser tokens break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850">
                          <a:solidFill>
                            <a:srgbClr val="8C5A0E"/>
                          </a:solidFill>
                          <a:latin typeface="IBM Plex Mono"/>
                        </a:rPr>
                        <a:t>MEDIUM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850">
                          <a:solidFill>
                            <a:srgbClr val="8C5A0E"/>
                          </a:solidFill>
                          <a:latin typeface="IBM Plex Mono"/>
                        </a:rPr>
                        <a:t>MEDIUM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i="0" b="0">
                          <a:solidFill>
                            <a:srgbClr val="3C4E4B"/>
                          </a:solidFill>
                          <a:latin typeface="IBM Plex Sans"/>
                        </a:rPr>
                        <a:t>Intentional — give ops an audited path, not a wide token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i="0" b="0">
                          <a:solidFill>
                            <a:srgbClr val="13201E"/>
                          </a:solidFill>
                          <a:latin typeface="IBM Plex Sans"/>
                        </a:rPr>
                        <a:t>Rollout stalls at “legacy still in use” forever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850">
                          <a:solidFill>
                            <a:srgbClr val="8C5A0E"/>
                          </a:solidFill>
                          <a:latin typeface="IBM Plex Mono"/>
                        </a:rPr>
                        <a:t>MEDIUM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850">
                          <a:solidFill>
                            <a:srgbClr val="8C5A0E"/>
                          </a:solidFill>
                          <a:latin typeface="IBM Plex Mono"/>
                        </a:rPr>
                        <a:t>MEDIUM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i="0" b="0">
                          <a:solidFill>
                            <a:srgbClr val="3C4E4B"/>
                          </a:solidFill>
                          <a:latin typeface="IBM Plex Sans"/>
                        </a:rPr>
                        <a:t>Announced dates · brownouts · one-shot grace extension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8C5A0E"/>
                </a:solidFill>
                <a:latin typeface="IBM Plex Mono"/>
              </a:rPr>
              <a:t>APPENDIX A7  ·  FROM SLIDE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30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400" i="0" b="1">
                <a:solidFill>
                  <a:srgbClr val="13201E"/>
                </a:solidFill>
                <a:latin typeface="Spectral"/>
              </a:rPr>
              <a:t>Alternatives, and why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BAAA6"/>
                </a:solidFill>
                <a:latin typeface="IBM Plex Mono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4476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BAAA6"/>
                </a:solidFill>
                <a:latin typeface="IBM Plex Mono"/>
              </a:rPr>
              <a:t>A7 / A10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10543032" cy="2560320"/>
        </p:xfrm>
        <a:graphic>
          <a:graphicData uri="http://schemas.openxmlformats.org/drawingml/2006/table">
            <a:tbl>
              <a:tblPr firstRow="0" bandRow="1">
                <a:tableStyleId>{5940675A-B579-460E-94D1-54222C63F5DA}</a:tableStyleId>
              </a:tblPr>
              <a:tblGrid>
                <a:gridCol w="4572000"/>
                <a:gridCol w="5971032"/>
              </a:tblGrid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7B77"/>
                          </a:solidFill>
                          <a:latin typeface="IBM Plex Mono"/>
                        </a:rPr>
                        <a:t>OPTION</a:t>
                      </a:r>
                    </a:p>
                  </a:txBody>
                  <a:tcPr marL="82296" marR="82296" marT="45720" marB="45720">
                    <a:solidFill>
                      <a:srgbClr val="ED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7B77"/>
                          </a:solidFill>
                          <a:latin typeface="IBM Plex Mono"/>
                        </a:rPr>
                        <a:t>WHY NOT</a:t>
                      </a:r>
                    </a:p>
                  </a:txBody>
                  <a:tcPr marL="82296" marR="82296" marT="45720" marB="45720">
                    <a:solidFill>
                      <a:srgbClr val="EDF1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50" i="0" b="0">
                          <a:solidFill>
                            <a:srgbClr val="13201E"/>
                          </a:solidFill>
                          <a:latin typeface="IBM Plex Sans"/>
                        </a:rPr>
                        <a:t>Per-request workspace header — token stays wide, client declares intent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50" i="0" b="0">
                          <a:solidFill>
                            <a:srgbClr val="3C4E4B"/>
                          </a:solidFill>
                          <a:latin typeface="IBM Plex Sans"/>
                        </a:rPr>
                        <a:t>Client-declared scope isn’t a security boundary; a leaked token just omits the header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50" i="0" b="0">
                          <a:solidFill>
                            <a:srgbClr val="13201E"/>
                          </a:solidFill>
                          <a:latin typeface="IBM Plex Sans"/>
                        </a:rPr>
                        <a:t>JWT with claims instead of signed opaque payloads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50" i="0" b="0">
                          <a:solidFill>
                            <a:srgbClr val="3C4E4B"/>
                          </a:solidFill>
                          <a:latin typeface="IBM Plex Sans"/>
                        </a:rPr>
                        <a:t>Real benefits, bigger change, and no revocation without a denylist. The signed-payload strategy is adequate once the token table gives us revocation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50" i="0" b="0">
                          <a:solidFill>
                            <a:srgbClr val="13201E"/>
                          </a:solidFill>
                          <a:latin typeface="IBM Plex Sans"/>
                        </a:rPr>
                        <a:t>Capability tokens now (read-only, pipeline-only)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50" i="0" b="0">
                          <a:solidFill>
                            <a:srgbClr val="3C4E4B"/>
                          </a:solidFill>
                          <a:latin typeface="IBM Plex Sans"/>
                        </a:rPr>
                        <a:t>Doubles the permission surface while the primary hole is still open. Ship workspace scoping; keep the extension point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50" i="0" b="0">
                          <a:solidFill>
                            <a:srgbClr val="13201E"/>
                          </a:solidFill>
                          <a:latin typeface="IBM Plex Sans"/>
                        </a:rPr>
                        <a:t>Enforce in each resolver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50" i="0" b="0">
                          <a:solidFill>
                            <a:srgbClr val="3C4E4B"/>
                          </a:solidFill>
                          <a:latin typeface="IBM Plex Sans"/>
                        </a:rPr>
                        <a:t>~200 resolvers, every one a chance to forget, unreviewable, and no single rollback switch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50" i="0" b="0">
                          <a:solidFill>
                            <a:srgbClr val="13201E"/>
                          </a:solidFill>
                          <a:latin typeface="IBM Plex Sans"/>
                        </a:rPr>
                        <a:t>Hard cut in one release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50" i="0" b="0">
                          <a:solidFill>
                            <a:srgbClr val="3C4E4B"/>
                          </a:solidFill>
                          <a:latin typeface="IBM Plex Sans"/>
                        </a:rPr>
                        <a:t>Fastest to a clean codebase, and the one option guaranteed to break users without warning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50" i="0" b="0">
                          <a:solidFill>
                            <a:srgbClr val="13201E"/>
                          </a:solidFill>
                          <a:latin typeface="IBM Plex Sans"/>
                        </a:rPr>
                        <a:t>Do nothing, document the risk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50" i="0" b="0">
                          <a:solidFill>
                            <a:srgbClr val="3C4E4B"/>
                          </a:solidFill>
                          <a:latin typeface="IBM Plex Sans"/>
                        </a:rPr>
                        <a:t>The token is an account credential in a place users treat as a project credential. That gap doesn’t stay theoretical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8C5A0E"/>
                </a:solidFill>
                <a:latin typeface="IBM Plex Mono"/>
              </a:rPr>
              <a:t>APPENDIX A8  ·  FROM SLIDE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30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400" i="0" b="1">
                <a:solidFill>
                  <a:srgbClr val="13201E"/>
                </a:solidFill>
                <a:latin typeface="Spectral"/>
              </a:rPr>
              <a:t>Where the branch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BAAA6"/>
                </a:solidFill>
                <a:latin typeface="IBM Plex Mono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4476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BAAA6"/>
                </a:solidFill>
                <a:latin typeface="IBM Plex Mono"/>
              </a:rPr>
              <a:t>A8 / A10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0292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3201E"/>
                </a:solidFill>
                <a:latin typeface="IBM Plex Sans"/>
              </a:rPr>
              <a:t>Built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200" i="0" b="0">
                <a:solidFill>
                  <a:srgbClr val="3C4E4B"/>
                </a:solidFill>
                <a:latin typeface="IBM Plex Sans"/>
              </a:rPr>
              <a:t>•   </a:t>
            </a:r>
            <a:r>
              <a:rPr sz="1056" i="0" b="0">
                <a:solidFill>
                  <a:srgbClr val="0E6B5E"/>
                </a:solidFill>
                <a:latin typeface="IBM Plex Mono"/>
              </a:rPr>
              <a:t>WorkspaceScopedPrincipal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 marker, with </a:t>
            </a:r>
            <a:r>
              <a:rPr sz="1056" i="0" b="0">
                <a:solidFill>
                  <a:srgbClr val="0E6B5E"/>
                </a:solidFill>
                <a:latin typeface="IBM Plex Mono"/>
              </a:rPr>
              <a:t>ServicePrincipal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 inheriting from it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200" i="0" b="0">
                <a:solidFill>
                  <a:srgbClr val="3C4E4B"/>
                </a:solidFill>
                <a:latin typeface="IBM Plex Sans"/>
              </a:rPr>
              <a:t>•   </a:t>
            </a:r>
            <a:r>
              <a:rPr sz="1056" i="0" b="0">
                <a:solidFill>
                  <a:srgbClr val="0E6B5E"/>
                </a:solidFill>
                <a:latin typeface="IBM Plex Mono"/>
              </a:rPr>
              <a:t>WorkspaceTokenUser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 — the </a:t>
            </a:r>
            <a:r>
              <a:rPr sz="1056" i="0" b="0">
                <a:solidFill>
                  <a:srgbClr val="0E6B5E"/>
                </a:solidFill>
                <a:latin typeface="IBM Plex Mono"/>
              </a:rPr>
              <a:t>User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 proxy narrowed to one workspace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200" i="0" b="0">
                <a:solidFill>
                  <a:srgbClr val="3C4E4B"/>
                </a:solidFill>
                <a:latin typeface="IBM Plex Sans"/>
              </a:rPr>
              <a:t>•   </a:t>
            </a:r>
            <a:r>
              <a:rPr sz="1056" i="0" b="0">
                <a:solidFill>
                  <a:srgbClr val="0E6B5E"/>
                </a:solidFill>
                <a:latin typeface="IBM Plex Mono"/>
              </a:rPr>
              <a:t>Workspace.has_role()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, replacing ~30 hand-rolled membership queries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200" i="0" b="0">
                <a:solidFill>
                  <a:srgbClr val="3C4E4B"/>
                </a:solidFill>
                <a:latin typeface="IBM Plex Sans"/>
              </a:rPr>
              <a:t>•   </a:t>
            </a:r>
            <a:r>
              <a:rPr sz="1056" i="0" b="0">
                <a:solidFill>
                  <a:srgbClr val="0E6B5E"/>
                </a:solidFill>
                <a:latin typeface="IBM Plex Mono"/>
              </a:rPr>
              <a:t>_scoped()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 post-filter on the workspace queryset, including superuser shortcuts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200" i="0" b="0">
                <a:solidFill>
                  <a:srgbClr val="3C4E4B"/>
                </a:solidFill>
                <a:latin typeface="IBM Plex Sans"/>
              </a:rPr>
              <a:t>•   </a:t>
            </a:r>
            <a:r>
              <a:rPr sz="1056" i="0" b="0">
                <a:solidFill>
                  <a:srgbClr val="0E6B5E"/>
                </a:solidFill>
                <a:latin typeface="IBM Plex Mono"/>
              </a:rPr>
              <a:t>test_visibility_scoping.py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 — the matrix, run for a member and a superuser holder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6792" y="1783080"/>
            <a:ext cx="50292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3201E"/>
                </a:solidFill>
                <a:latin typeface="IBM Plex Sans"/>
              </a:rPr>
              <a:t>Left to do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200" i="0" b="0">
                <a:solidFill>
                  <a:srgbClr val="3C4E4B"/>
                </a:solidFill>
                <a:latin typeface="IBM Plex Sans"/>
              </a:rPr>
              <a:t>•   Wire the middleware (one line) behind the three-state flag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200" i="0" b="0">
                <a:solidFill>
                  <a:srgbClr val="3C4E4B"/>
                </a:solidFill>
                <a:latin typeface="IBM Plex Sans"/>
              </a:rPr>
              <a:t>•   Scope as a constructor argument, not a mutated class attribute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200" i="0" b="0">
                <a:solidFill>
                  <a:srgbClr val="3C4E4B"/>
                </a:solidFill>
                <a:latin typeface="IBM Plex Sans"/>
              </a:rPr>
              <a:t>•   Ask the principal, not </a:t>
            </a:r>
            <a:r>
              <a:rPr sz="1056" i="0" b="0">
                <a:solidFill>
                  <a:srgbClr val="0E6B5E"/>
                </a:solidFill>
                <a:latin typeface="IBM Plex Mono"/>
              </a:rPr>
              <a:t>isinstance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, from </a:t>
            </a:r>
            <a:r>
              <a:rPr sz="1056" i="0" b="0">
                <a:solidFill>
                  <a:srgbClr val="0E6B5E"/>
                </a:solidFill>
                <a:latin typeface="IBM Plex Mono"/>
              </a:rPr>
              <a:t>core/models/base.py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200" i="0" b="0">
                <a:solidFill>
                  <a:srgbClr val="3C4E4B"/>
                </a:solidFill>
                <a:latin typeface="IBM Plex Sans"/>
              </a:rPr>
              <a:t>•   Registry dispatch on a payload </a:t>
            </a:r>
            <a:r>
              <a:rPr sz="1056" i="0" b="0">
                <a:solidFill>
                  <a:srgbClr val="0E6B5E"/>
                </a:solidFill>
                <a:latin typeface="IBM Plex Mono"/>
              </a:rPr>
              <a:t>version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, replacing the </a:t>
            </a:r>
            <a:r>
              <a:rPr sz="1056" i="0" b="0">
                <a:solidFill>
                  <a:srgbClr val="0E6B5E"/>
                </a:solidFill>
                <a:latin typeface="IBM Plex Mono"/>
              </a:rPr>
              <a:t>if/elif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200" i="0" b="0">
                <a:solidFill>
                  <a:srgbClr val="3C4E4B"/>
                </a:solidFill>
                <a:latin typeface="IBM Plex Sans"/>
              </a:rPr>
              <a:t>•   Guard test so a new model can’t skip </a:t>
            </a:r>
            <a:r>
              <a:rPr sz="1056" i="0" b="0">
                <a:solidFill>
                  <a:srgbClr val="0E6B5E"/>
                </a:solidFill>
                <a:latin typeface="IBM Plex Mono"/>
              </a:rPr>
              <a:t>SCOPED_MODELS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200" i="0" b="0">
                <a:solidFill>
                  <a:srgbClr val="3C4E4B"/>
                </a:solidFill>
                <a:latin typeface="IBM Plex Sans"/>
              </a:rPr>
              <a:t>•   Decide </a:t>
            </a:r>
            <a:r>
              <a:rPr sz="1056" i="0" b="0">
                <a:solidFill>
                  <a:srgbClr val="0E6B5E"/>
                </a:solidFill>
                <a:latin typeface="IBM Plex Mono"/>
              </a:rPr>
              <a:t>bypass_two_factor</a:t>
            </a:r>
            <a:r>
              <a:rPr sz="1200" i="0" b="0">
                <a:solidFill>
                  <a:srgbClr val="3C4E4B"/>
                </a:solidFill>
                <a:latin typeface="IBM Plex Sans"/>
              </a:rPr>
              <a:t> for tokens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200" i="0" b="0">
                <a:solidFill>
                  <a:srgbClr val="3C4E4B"/>
                </a:solidFill>
                <a:latin typeface="IBM Plex Sans"/>
              </a:rPr>
              <a:t>•   Tests for org-shared and linked datasets — the likeliest quiet break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8C5A0E"/>
                </a:solidFill>
                <a:latin typeface="IBM Plex Mono"/>
              </a:rPr>
              <a:t>APPENDIX A9  ·  FROM SLIDE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30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400" i="0" b="1">
                <a:solidFill>
                  <a:srgbClr val="13201E"/>
                </a:solidFill>
                <a:latin typeface="Spectral"/>
              </a:rPr>
              <a:t>How a brownout actually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BAAA6"/>
                </a:solidFill>
                <a:latin typeface="IBM Plex Mono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4476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BAAA6"/>
                </a:solidFill>
                <a:latin typeface="IBM Plex Mono"/>
              </a:rPr>
              <a:t>A9 / A10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0292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3201E"/>
                </a:solidFill>
                <a:latin typeface="IBM Plex Sans"/>
              </a:rPr>
              <a:t>Why do it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i="0" b="0">
                <a:solidFill>
                  <a:srgbClr val="3C4E4B"/>
                </a:solidFill>
                <a:latin typeface="IBM Plex Sans"/>
              </a:rPr>
              <a:t>•   Emails get ignored. A failed run at 10:00 on an announced Tuesday does not.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i="0" b="0">
                <a:solidFill>
                  <a:srgbClr val="3C4E4B"/>
                </a:solidFill>
                <a:latin typeface="IBM Plex Sans"/>
              </a:rPr>
              <a:t>•   Failure is </a:t>
            </a:r>
            <a:r>
              <a:rPr sz="1150" i="1" b="0">
                <a:solidFill>
                  <a:srgbClr val="3C4E4B"/>
                </a:solidFill>
                <a:latin typeface="IBM Plex Sans"/>
              </a:rPr>
              <a:t>recoverable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 — a nightly pipeline can be re-run the same day. The identical failure on cutoff day is an outage with no fallback.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i="0" b="0">
                <a:solidFill>
                  <a:srgbClr val="3C4E4B"/>
                </a:solidFill>
                <a:latin typeface="IBM Plex Sans"/>
              </a:rPr>
              <a:t>•   It rehearses the enforce path in production before it is permanent.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i="0" b="0">
                <a:solidFill>
                  <a:srgbClr val="3C4E4B"/>
                </a:solidFill>
                <a:latin typeface="IBM Plex Sans"/>
              </a:rPr>
              <a:t>•   It turns “we think a few tokens still cross workspaces” into a list of names.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000"/>
              </a:spcAft>
            </a:pPr>
            <a:r>
              <a:rPr sz="1150" i="0" b="0">
                <a:solidFill>
                  <a:srgbClr val="3C4E4B"/>
                </a:solidFill>
                <a:latin typeface="IBM Plex Sans"/>
              </a:rPr>
              <a:t>Blast radius is bounded by construction: only token-authenticated requests are affected. Everyone in the web UI sees nothing.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6792" y="1783080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000"/>
              </a:spcAft>
            </a:pPr>
            <a:r>
              <a:rPr sz="1150" i="0" b="1">
                <a:solidFill>
                  <a:srgbClr val="3C4E4B"/>
                </a:solidFill>
                <a:latin typeface="IBM Plex Sans"/>
              </a:rPr>
              <a:t>What it costs to build: nearly nothing.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 A brownout is a schedule, not a feature — and the lever exists: </a:t>
            </a:r>
            <a:r>
              <a:rPr sz="1011" i="0" b="0">
                <a:solidFill>
                  <a:srgbClr val="0E6B5E"/>
                </a:solidFill>
                <a:latin typeface="IBM Plex Mono"/>
              </a:rPr>
              <a:t>Feature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 / </a:t>
            </a:r>
            <a:r>
              <a:rPr sz="1011" i="0" b="0">
                <a:solidFill>
                  <a:srgbClr val="0E6B5E"/>
                </a:solidFill>
                <a:latin typeface="IBM Plex Mono"/>
              </a:rPr>
              <a:t>FeatureFlag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 (</a:t>
            </a:r>
            <a:r>
              <a:rPr sz="1011" i="0" b="0">
                <a:solidFill>
                  <a:srgbClr val="0E6B5E"/>
                </a:solidFill>
                <a:latin typeface="IBM Plex Mono"/>
              </a:rPr>
              <a:t>user_management/models.py:840-865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), with </a:t>
            </a:r>
            <a:r>
              <a:rPr sz="1011" i="0" b="0">
                <a:solidFill>
                  <a:srgbClr val="0E6B5E"/>
                </a:solidFill>
                <a:latin typeface="IBM Plex Mono"/>
              </a:rPr>
              <a:t>force_activate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 as a global switch in Django admin. No deploy, no restart.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310896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3201E"/>
                </a:solidFill>
                <a:latin typeface="IBM Plex Sans"/>
              </a:rPr>
              <a:t/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i="0" b="0">
                <a:solidFill>
                  <a:srgbClr val="3C4E4B"/>
                </a:solidFill>
                <a:latin typeface="IBM Plex Sans"/>
              </a:rPr>
              <a:t>•   </a:t>
            </a:r>
            <a:r>
              <a:rPr sz="1011" i="0" b="0">
                <a:solidFill>
                  <a:srgbClr val="0E6B5E"/>
                </a:solidFill>
                <a:latin typeface="IBM Plex Mono"/>
              </a:rPr>
              <a:t>has_feature_flag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 is an uncached query per call — memoise it before the auth path.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i="0" b="0">
                <a:solidFill>
                  <a:srgbClr val="3C4E4B"/>
                </a:solidFill>
                <a:latin typeface="IBM Plex Sans"/>
              </a:rPr>
              <a:t>•   A boolean can’t express </a:t>
            </a:r>
            <a:r>
              <a:rPr sz="1011" i="0" b="0">
                <a:solidFill>
                  <a:srgbClr val="0E6B5E"/>
                </a:solidFill>
                <a:latin typeface="IBM Plex Mono"/>
              </a:rPr>
              <a:t>off / log / enforce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: use a mode plus an </a:t>
            </a:r>
            <a:r>
              <a:rPr sz="1011" i="0" b="0">
                <a:solidFill>
                  <a:srgbClr val="0E6B5E"/>
                </a:solidFill>
                <a:latin typeface="IBM Plex Mono"/>
              </a:rPr>
              <a:t>enforce_from/until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 window, so brownouts run themselves.</a:t>
            </a:r>
          </a:p>
          <a:p>
            <a:pPr>
              <a:lnSpc>
                <a:spcPct val="128000"/>
              </a:lnSpc>
              <a:spcAft>
                <a:spcPts val="700"/>
              </a:spcAft>
            </a:pPr>
            <a:r>
              <a:rPr sz="1150" i="0" b="0">
                <a:solidFill>
                  <a:srgbClr val="3C4E4B"/>
                </a:solidFill>
                <a:latin typeface="IBM Plex Sans"/>
              </a:rPr>
              <a:t>•   No scheduler in </a:t>
            </a:r>
            <a:r>
              <a:rPr sz="1011" i="0" b="0">
                <a:solidFill>
                  <a:srgbClr val="0E6B5E"/>
                </a:solidFill>
                <a:latin typeface="IBM Plex Mono"/>
              </a:rPr>
              <a:t>settings/base.py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 — a timed flip means a CronJob, or a person.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534924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000"/>
              </a:spcAft>
            </a:pPr>
            <a:r>
              <a:rPr sz="1150" i="0" b="1">
                <a:solidFill>
                  <a:srgbClr val="3C4E4B"/>
                </a:solidFill>
                <a:latin typeface="IBM Plex Sans"/>
              </a:rPr>
              <a:t>The hard parts aren’t code: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 the hour (real pipeline schedules, many timezones), the comms, no auto-retry, and someone watching the metric.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02336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>
                <a:solidFill>
                  <a:srgbClr val="8C5A0E"/>
                </a:solidFill>
                <a:latin typeface="IBM Plex Mono"/>
              </a:rPr>
              <a:t>APPENDIX A10  ·  FROM SLIDE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430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400" i="0" b="1">
                <a:solidFill>
                  <a:srgbClr val="13201E"/>
                </a:solidFill>
                <a:latin typeface="Spectral"/>
              </a:rPr>
              <a:t>What the CLI and SDK actually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>
                <a:solidFill>
                  <a:srgbClr val="9BAAA6"/>
                </a:solidFill>
                <a:latin typeface="IBM Plex Mono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4476" y="6263640"/>
            <a:ext cx="52715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>
                <a:solidFill>
                  <a:srgbClr val="9BAAA6"/>
                </a:solidFill>
                <a:latin typeface="IBM Plex Mono"/>
              </a:rPr>
              <a:t>A10 / A10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10543032" cy="2926080"/>
        </p:xfrm>
        <a:graphic>
          <a:graphicData uri="http://schemas.openxmlformats.org/drawingml/2006/table">
            <a:tbl>
              <a:tblPr firstRow="0" bandRow="1">
                <a:tableStyleId>{5940675A-B579-460E-94D1-54222C63F5DA}</a:tableStyleId>
              </a:tblPr>
              <a:tblGrid>
                <a:gridCol w="8138160"/>
                <a:gridCol w="2404872"/>
              </a:tblGrid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7B77"/>
                          </a:solidFill>
                          <a:latin typeface="IBM Plex Mono"/>
                        </a:rPr>
                        <a:t>FINDING</a:t>
                      </a:r>
                    </a:p>
                  </a:txBody>
                  <a:tcPr marL="82296" marR="82296" marT="45720" marB="45720">
                    <a:solidFill>
                      <a:srgbClr val="ED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7B77"/>
                          </a:solidFill>
                          <a:latin typeface="IBM Plex Mono"/>
                        </a:rPr>
                        <a:t>WHERE</a:t>
                      </a:r>
                    </a:p>
                  </a:txBody>
                  <a:tcPr marL="82296" marR="82296" marT="45720" marB="45720">
                    <a:solidFill>
                      <a:srgbClr val="EDF1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i="0" b="0">
                          <a:solidFill>
                            <a:srgbClr val="13201E"/>
                          </a:solidFill>
                          <a:latin typeface="IBM Plex Sans"/>
                        </a:rPr>
                        <a:t>Config is already one token per workspace — </a:t>
                      </a:r>
                      <a:r>
                        <a:rPr sz="880" i="0" b="0">
                          <a:solidFill>
                            <a:srgbClr val="0E6B5E"/>
                          </a:solidFill>
                          <a:latin typeface="IBM Plex Mono"/>
                        </a:rPr>
                        <a:t>[workspaces]</a:t>
                      </a:r>
                      <a:r>
                        <a:rPr sz="1000" i="0" b="0">
                          <a:solidFill>
                            <a:srgbClr val="13201E"/>
                          </a:solidFill>
                          <a:latin typeface="IBM Plex Sans"/>
                        </a:rPr>
                        <a:t> maps slug → token, and </a:t>
                      </a:r>
                      <a:r>
                        <a:rPr sz="880" i="0" b="0">
                          <a:solidFill>
                            <a:srgbClr val="0E6B5E"/>
                          </a:solidFill>
                          <a:latin typeface="IBM Plex Mono"/>
                        </a:rPr>
                        <a:t>access_token</a:t>
                      </a:r>
                      <a:r>
                        <a:rPr sz="1000" i="0" b="0">
                          <a:solidFill>
                            <a:srgbClr val="13201E"/>
                          </a:solidFill>
                          <a:latin typeface="IBM Plex Sans"/>
                        </a:rPr>
                        <a:t> returns the current workspace’s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i="0" b="0">
                          <a:solidFill>
                            <a:srgbClr val="3C4E4B"/>
                          </a:solidFill>
                          <a:latin typeface="IBM Plex Sans"/>
                        </a:rPr>
                        <a:t>cli/settings.py:82,117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880" i="0" b="0">
                          <a:solidFill>
                            <a:srgbClr val="0E6B5E"/>
                          </a:solidFill>
                          <a:latin typeface="IBM Plex Mono"/>
                        </a:rPr>
                        <a:t>workspaces list</a:t>
                      </a:r>
                      <a:r>
                        <a:rPr sz="1000" i="0" b="0">
                          <a:solidFill>
                            <a:srgbClr val="13201E"/>
                          </a:solidFill>
                          <a:latin typeface="IBM Plex Sans"/>
                        </a:rPr>
                        <a:t> / </a:t>
                      </a:r>
                      <a:r>
                        <a:rPr sz="880" i="0" b="0">
                          <a:solidFill>
                            <a:srgbClr val="0E6B5E"/>
                          </a:solidFill>
                          <a:latin typeface="IBM Plex Mono"/>
                        </a:rPr>
                        <a:t>activate</a:t>
                      </a:r>
                      <a:r>
                        <a:rPr sz="1000" i="0" b="0">
                          <a:solidFill>
                            <a:srgbClr val="13201E"/>
                          </a:solidFill>
                          <a:latin typeface="IBM Plex Sans"/>
                        </a:rPr>
                        <a:t> / </a:t>
                      </a:r>
                      <a:r>
                        <a:rPr sz="880" i="0" b="0">
                          <a:solidFill>
                            <a:srgbClr val="0E6B5E"/>
                          </a:solidFill>
                          <a:latin typeface="IBM Plex Mono"/>
                        </a:rPr>
                        <a:t>rm</a:t>
                      </a:r>
                      <a:r>
                        <a:rPr sz="1000" i="0" b="0">
                          <a:solidFill>
                            <a:srgbClr val="13201E"/>
                          </a:solidFill>
                          <a:latin typeface="IBM Plex Sans"/>
                        </a:rPr>
                        <a:t> are local only — no API call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i="0" b="0">
                          <a:solidFill>
                            <a:srgbClr val="3C4E4B"/>
                          </a:solidFill>
                          <a:latin typeface="IBM Plex Sans"/>
                        </a:rPr>
                        <a:t>cli/cli.py:141-160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880" i="0" b="0">
                          <a:solidFill>
                            <a:srgbClr val="0E6B5E"/>
                          </a:solidFill>
                          <a:latin typeface="IBM Plex Mono"/>
                        </a:rPr>
                        <a:t>workspaces add</a:t>
                      </a:r>
                      <a:r>
                        <a:rPr sz="1000" i="0" b="0">
                          <a:solidFill>
                            <a:srgbClr val="13201E"/>
                          </a:solidFill>
                          <a:latin typeface="IBM Plex Sans"/>
                        </a:rPr>
                        <a:t> validates with </a:t>
                      </a:r>
                      <a:r>
                        <a:rPr sz="880" i="0" b="0">
                          <a:solidFill>
                            <a:srgbClr val="0E6B5E"/>
                          </a:solidFill>
                          <a:latin typeface="IBM Plex Mono"/>
                        </a:rPr>
                        <a:t>getWorkspace(slug)</a:t>
                      </a:r>
                      <a:r>
                        <a:rPr sz="1000" i="0" b="0">
                          <a:solidFill>
                            <a:srgbClr val="13201E"/>
                          </a:solidFill>
                          <a:latin typeface="IBM Plex Sans"/>
                        </a:rPr>
                        <a:t> — singular, the token’s own workspace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i="0" b="0">
                          <a:solidFill>
                            <a:srgbClr val="3C4E4B"/>
                          </a:solidFill>
                          <a:latin typeface="IBM Plex Sans"/>
                        </a:rPr>
                        <a:t>cli/api.py:225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i="0" b="0">
                          <a:solidFill>
                            <a:srgbClr val="13201E"/>
                          </a:solidFill>
                          <a:latin typeface="IBM Plex Sans"/>
                        </a:rPr>
                        <a:t>Nothing calls </a:t>
                      </a:r>
                      <a:r>
                        <a:rPr sz="880" i="0" b="0">
                          <a:solidFill>
                            <a:srgbClr val="0E6B5E"/>
                          </a:solidFill>
                          <a:latin typeface="IBM Plex Mono"/>
                        </a:rPr>
                        <a:t>me</a:t>
                      </a:r>
                      <a:r>
                        <a:rPr sz="1000" i="0" b="0">
                          <a:solidFill>
                            <a:srgbClr val="13201E"/>
                          </a:solidFill>
                          <a:latin typeface="IBM Plex Sans"/>
                        </a:rPr>
                        <a:t>, the plural </a:t>
                      </a:r>
                      <a:r>
                        <a:rPr sz="880" i="0" b="0">
                          <a:solidFill>
                            <a:srgbClr val="0E6B5E"/>
                          </a:solidFill>
                          <a:latin typeface="IBM Plex Mono"/>
                        </a:rPr>
                        <a:t>workspaces</a:t>
                      </a:r>
                      <a:r>
                        <a:rPr sz="1000" i="0" b="0">
                          <a:solidFill>
                            <a:srgbClr val="13201E"/>
                          </a:solidFill>
                          <a:latin typeface="IBM Plex Sans"/>
                        </a:rPr>
                        <a:t>, or </a:t>
                      </a:r>
                      <a:r>
                        <a:rPr sz="880" i="0" b="0">
                          <a:solidFill>
                            <a:srgbClr val="0E6B5E"/>
                          </a:solidFill>
                          <a:latin typeface="IBM Plex Mono"/>
                        </a:rPr>
                        <a:t>organizations</a:t>
                      </a:r>
                      <a:r>
                        <a:rPr sz="1000" i="0" b="0">
                          <a:solidFill>
                            <a:srgbClr val="13201E"/>
                          </a:solidFill>
                          <a:latin typeface="IBM Plex Sans"/>
                        </a:rPr>
                        <a:t> — present in the generated client, unused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i="0" b="0">
                          <a:solidFill>
                            <a:srgbClr val="3C4E4B"/>
                          </a:solidFill>
                          <a:latin typeface="IBM Plex Sans"/>
                        </a:rPr>
                        <a:t>grep of cli/ + sdk/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i="0" b="0">
                          <a:solidFill>
                            <a:srgbClr val="13201E"/>
                          </a:solidFill>
                          <a:latin typeface="IBM Plex Sans"/>
                        </a:rPr>
                        <a:t>Every runtime call names its workspace explicitly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i="0" b="0">
                          <a:solidFill>
                            <a:srgbClr val="3C4E4B"/>
                          </a:solidFill>
                          <a:latin typeface="IBM Plex Sans"/>
                        </a:rPr>
                        <a:t>sdk/workspaces/current_workspace.py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i="0" b="0">
                          <a:solidFill>
                            <a:srgbClr val="13201E"/>
                          </a:solidFill>
                          <a:latin typeface="IBM Plex Sans"/>
                        </a:rPr>
                        <a:t>User-Agent is versioned — Phase 0 measures the client version spread for free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i="0" b="0">
                          <a:solidFill>
                            <a:srgbClr val="3C4E4B"/>
                          </a:solidFill>
                          <a:latin typeface="IBM Plex Sans"/>
                        </a:rPr>
                        <a:t>cli/api.py:194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i="0" b="0">
                          <a:solidFill>
                            <a:srgbClr val="13201E"/>
                          </a:solidFill>
                          <a:latin typeface="IBM Plex Sans"/>
                        </a:rPr>
                        <a:t>No token-format validation anywhere — </a:t>
                      </a:r>
                      <a:r>
                        <a:rPr sz="880" i="0" b="0">
                          <a:solidFill>
                            <a:srgbClr val="0E6B5E"/>
                          </a:solidFill>
                          <a:latin typeface="IBM Plex Mono"/>
                        </a:rPr>
                        <a:t>ohx_ws_…</a:t>
                      </a:r>
                      <a:r>
                        <a:rPr sz="1000" i="0" b="0">
                          <a:solidFill>
                            <a:srgbClr val="13201E"/>
                          </a:solidFill>
                          <a:latin typeface="IBM Plex Sans"/>
                        </a:rPr>
                        <a:t> works on every installed client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2000"/>
                        </a:lnSpc>
                      </a:pPr>
                      <a:r>
                        <a:rPr sz="1000" i="0" b="0">
                          <a:solidFill>
                            <a:srgbClr val="3C4E4B"/>
                          </a:solidFill>
                          <a:latin typeface="IBM Plex Sans"/>
                        </a:rPr>
                        <a:t>cli/api.py:193</a:t>
                      </a:r>
                    </a:p>
                  </a:txBody>
                  <a:tcPr marL="82296" marR="82296" marT="54864" marB="54864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000"/>
              </a:spcAft>
            </a:pPr>
            <a:r>
              <a:rPr sz="1150" i="0" b="1">
                <a:solidFill>
                  <a:srgbClr val="3C4E4B"/>
                </a:solidFill>
                <a:latin typeface="IBM Plex Sans"/>
              </a:rPr>
              <a:t>The one exposure: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 </a:t>
            </a:r>
            <a:r>
              <a:rPr sz="1011" i="0" b="0">
                <a:solidFill>
                  <a:srgbClr val="0E6B5E"/>
                </a:solidFill>
                <a:latin typeface="IBM Plex Mono"/>
              </a:rPr>
              <a:t>get_dataset(…, source_workspace_slug=…)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 is an explicit cross-workspace read. It survives under “reach, not rows” — but the scoping fixture only builds a </a:t>
            </a:r>
            <a:r>
              <a:rPr sz="1150" i="1" b="0">
                <a:solidFill>
                  <a:srgbClr val="3C4E4B"/>
                </a:solidFill>
                <a:latin typeface="IBM Plex Sans"/>
              </a:rPr>
              <a:t>private</a:t>
            </a:r>
            <a:r>
              <a:rPr sz="1150" i="0" b="0">
                <a:solidFill>
                  <a:srgbClr val="3C4E4B"/>
                </a:solidFill>
                <a:latin typeface="IBM Plex Sans"/>
              </a:rPr>
              <a:t> link in the other workspace, so nothing protects it yet.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